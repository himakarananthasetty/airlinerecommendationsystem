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56" r:id="rId2"/>
    <p:sldId id="257" r:id="rId3"/>
    <p:sldId id="280" r:id="rId4"/>
    <p:sldId id="275" r:id="rId5"/>
    <p:sldId id="299" r:id="rId6"/>
    <p:sldId id="300" r:id="rId7"/>
    <p:sldId id="301" r:id="rId8"/>
    <p:sldId id="302" r:id="rId9"/>
    <p:sldId id="274" r:id="rId10"/>
    <p:sldId id="303" r:id="rId11"/>
    <p:sldId id="266" r:id="rId12"/>
    <p:sldId id="304" r:id="rId13"/>
    <p:sldId id="267" r:id="rId14"/>
    <p:sldId id="305" r:id="rId15"/>
    <p:sldId id="268" r:id="rId16"/>
    <p:sldId id="269" r:id="rId17"/>
    <p:sldId id="259" r:id="rId18"/>
    <p:sldId id="270" r:id="rId19"/>
    <p:sldId id="271" r:id="rId20"/>
    <p:sldId id="279" r:id="rId21"/>
    <p:sldId id="284" r:id="rId22"/>
    <p:sldId id="285" r:id="rId23"/>
    <p:sldId id="286" r:id="rId24"/>
    <p:sldId id="295" r:id="rId25"/>
    <p:sldId id="289" r:id="rId26"/>
    <p:sldId id="291" r:id="rId27"/>
    <p:sldId id="292" r:id="rId28"/>
    <p:sldId id="296" r:id="rId29"/>
    <p:sldId id="297" r:id="rId3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5" d="100"/>
          <a:sy n="85" d="100"/>
        </p:scale>
        <p:origin x="-1378" y="-67"/>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4DD1D71-4D5F-4DE1-B932-C71674A89D8A}" type="datetimeFigureOut">
              <a:rPr lang="en-US" smtClean="0"/>
              <a:pPr/>
              <a:t>3/29/2022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0D0691D-60D0-4494-B66A-D2C671AD9598}"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3/29/2022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3/29/2022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3/29/2022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3/29/2022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3/29/2022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3/29/2022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3/29/2022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3/29/2022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3/29/2022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smtClean="0"/>
              <a:t>Air Line Recommendation System from Web Scraped Real-time Live Data</a:t>
            </a:r>
            <a:endParaRPr lang="en-US" dirty="0"/>
          </a:p>
        </p:txBody>
      </p:sp>
      <p:sp>
        <p:nvSpPr>
          <p:cNvPr id="3" name="Subtitle 2"/>
          <p:cNvSpPr>
            <a:spLocks noGrp="1"/>
          </p:cNvSpPr>
          <p:nvPr>
            <p:ph type="subTitle" idx="1"/>
          </p:nvPr>
        </p:nvSpPr>
        <p:spPr>
          <a:xfrm>
            <a:off x="1371600" y="3886200"/>
            <a:ext cx="6400800" cy="1524000"/>
          </a:xfrm>
        </p:spPr>
        <p:txBody>
          <a:bodyPr>
            <a:normAutofit/>
          </a:bodyPr>
          <a:lstStyle/>
          <a:p>
            <a:r>
              <a:rPr lang="en-US" sz="3000" dirty="0" err="1" smtClean="0"/>
              <a:t>Ananthasetty</a:t>
            </a:r>
            <a:r>
              <a:rPr lang="en-US" sz="3000" dirty="0" smtClean="0"/>
              <a:t> Himakar-121810316009</a:t>
            </a:r>
          </a:p>
          <a:p>
            <a:r>
              <a:rPr lang="en-US" sz="3000" dirty="0" err="1" smtClean="0"/>
              <a:t>Pallanti</a:t>
            </a:r>
            <a:r>
              <a:rPr lang="en-US" sz="3000" dirty="0" smtClean="0"/>
              <a:t> </a:t>
            </a:r>
            <a:r>
              <a:rPr lang="en-US" sz="3000" dirty="0" err="1" smtClean="0"/>
              <a:t>Sai</a:t>
            </a:r>
            <a:r>
              <a:rPr lang="en-US" sz="3000" dirty="0" smtClean="0"/>
              <a:t> </a:t>
            </a:r>
            <a:r>
              <a:rPr lang="en-US" sz="3000" dirty="0" err="1" smtClean="0"/>
              <a:t>Teja</a:t>
            </a:r>
            <a:r>
              <a:rPr lang="en-US" sz="3000" dirty="0" smtClean="0"/>
              <a:t> - 121810316058</a:t>
            </a:r>
            <a:endParaRPr lang="en-US" sz="30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Abstract</a:t>
            </a:r>
            <a:endParaRPr lang="en-US" dirty="0"/>
          </a:p>
        </p:txBody>
      </p:sp>
      <p:sp>
        <p:nvSpPr>
          <p:cNvPr id="3" name="Content Placeholder 2"/>
          <p:cNvSpPr>
            <a:spLocks noGrp="1"/>
          </p:cNvSpPr>
          <p:nvPr>
            <p:ph idx="1"/>
          </p:nvPr>
        </p:nvSpPr>
        <p:spPr/>
        <p:txBody>
          <a:bodyPr>
            <a:normAutofit fontScale="70000" lnSpcReduction="20000"/>
          </a:bodyPr>
          <a:lstStyle/>
          <a:p>
            <a:pPr algn="just"/>
            <a:r>
              <a:rPr lang="en-US" dirty="0" smtClean="0"/>
              <a:t>Nowadays, consumers increasingly rely on online resources to aid in purchasing decisions. Online resources also help companies learn from customer reviews, how different types of customers have different priorities and how customer choice affects their review. In the U.S, 82% the adult says that they have been referring to online reviews and ratings provided by the customer before purchasing items for the first time, including 40% who say that they have always referred or almost always do so. In the proposed work, we have been performed predictive analysis for qualitative reviews on the data that different online sites have collected. We have also been performed a descriptive analysis of the different classes of airline services. The findings of this paper show that the review of most of the business class is on the food and friendliness of staff, whereas most of the economy class views were on legroom and seat comfort.</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What Inspired us?</a:t>
            </a:r>
            <a:endParaRPr lang="en-US" dirty="0"/>
          </a:p>
        </p:txBody>
      </p:sp>
      <p:sp>
        <p:nvSpPr>
          <p:cNvPr id="3" name="Content Placeholder 2"/>
          <p:cNvSpPr>
            <a:spLocks noGrp="1"/>
          </p:cNvSpPr>
          <p:nvPr>
            <p:ph idx="1"/>
          </p:nvPr>
        </p:nvSpPr>
        <p:spPr/>
        <p:txBody>
          <a:bodyPr>
            <a:normAutofit fontScale="70000" lnSpcReduction="20000"/>
          </a:bodyPr>
          <a:lstStyle/>
          <a:p>
            <a:pPr algn="just"/>
            <a:r>
              <a:rPr lang="en-US" dirty="0" smtClean="0">
                <a:latin typeface="Times New Roman" panose="02020603050405020304" pitchFamily="18" charset="0"/>
                <a:cs typeface="Times New Roman" panose="02020603050405020304" pitchFamily="18" charset="0"/>
              </a:rPr>
              <a:t>The recommendation system is beneficial in this generation, especially in this after COVID </a:t>
            </a:r>
            <a:r>
              <a:rPr lang="en-US" dirty="0" err="1" smtClean="0">
                <a:latin typeface="Times New Roman" panose="02020603050405020304" pitchFamily="18" charset="0"/>
                <a:cs typeface="Times New Roman" panose="02020603050405020304" pitchFamily="18" charset="0"/>
              </a:rPr>
              <a:t>unlockdown</a:t>
            </a:r>
            <a:r>
              <a:rPr lang="en-US" dirty="0" smtClean="0">
                <a:latin typeface="Times New Roman" panose="02020603050405020304" pitchFamily="18" charset="0"/>
                <a:cs typeface="Times New Roman" panose="02020603050405020304" pitchFamily="18" charset="0"/>
              </a:rPr>
              <a:t> situation, where millions of people are retrieving the habit of travelling, migrating to other </a:t>
            </a:r>
            <a:r>
              <a:rPr lang="en-US" dirty="0" err="1" smtClean="0">
                <a:latin typeface="Times New Roman" panose="02020603050405020304" pitchFamily="18" charset="0"/>
                <a:cs typeface="Times New Roman" panose="02020603050405020304" pitchFamily="18" charset="0"/>
              </a:rPr>
              <a:t>countires</a:t>
            </a:r>
            <a:r>
              <a:rPr lang="en-US" dirty="0" smtClean="0">
                <a:latin typeface="Times New Roman" panose="02020603050405020304" pitchFamily="18" charset="0"/>
                <a:cs typeface="Times New Roman" panose="02020603050405020304" pitchFamily="18" charset="0"/>
              </a:rPr>
              <a:t> for </a:t>
            </a:r>
            <a:r>
              <a:rPr lang="en-US" dirty="0" err="1" smtClean="0">
                <a:latin typeface="Times New Roman" panose="02020603050405020304" pitchFamily="18" charset="0"/>
                <a:cs typeface="Times New Roman" panose="02020603050405020304" pitchFamily="18" charset="0"/>
              </a:rPr>
              <a:t>studying,working</a:t>
            </a:r>
            <a:r>
              <a:rPr lang="en-US" dirty="0" smtClean="0">
                <a:latin typeface="Times New Roman" panose="02020603050405020304" pitchFamily="18" charset="0"/>
                <a:cs typeface="Times New Roman" panose="02020603050405020304" pitchFamily="18" charset="0"/>
              </a:rPr>
              <a:t>. Moreover, thousands of applications widely acquired the concept of a recommendation system, which helps the user find the appropriate needs. The two famous recommendation systems are the Content-Based recommendation system and the Collaborative Filtering recommendation system. Content-Based systems recommend with respective customer similarities to previously high-rated items by the customer. Collaborative filtering is based on identical people (based on the genre interest). It predicts which product a user will like based on the item preferences of other similar users. In this case, this paper recommends a customized recommender system with a Recommendation System built with Random forest Classifier, Real time data extracted from “www.airlinequality.com”</a:t>
            </a:r>
            <a:endParaRPr lang="en-IN" dirty="0" smtClean="0">
              <a:latin typeface="Times New Roman" panose="02020603050405020304" pitchFamily="18" charset="0"/>
              <a:cs typeface="Times New Roman" panose="02020603050405020304" pitchFamily="18" charset="0"/>
            </a:endParaRPr>
          </a:p>
          <a:p>
            <a:pPr algn="just"/>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System Architecture</a:t>
            </a:r>
            <a:endParaRPr lang="en-US" dirty="0"/>
          </a:p>
        </p:txBody>
      </p:sp>
      <p:pic>
        <p:nvPicPr>
          <p:cNvPr id="4" name="Content Placeholder 3" descr="1.PNG"/>
          <p:cNvPicPr>
            <a:picLocks noGrp="1" noChangeAspect="1"/>
          </p:cNvPicPr>
          <p:nvPr>
            <p:ph idx="1"/>
          </p:nvPr>
        </p:nvPicPr>
        <p:blipFill>
          <a:blip r:embed="rId2" cstate="print"/>
          <a:stretch>
            <a:fillRect/>
          </a:stretch>
        </p:blipFill>
        <p:spPr>
          <a:xfrm>
            <a:off x="1992406" y="1775120"/>
            <a:ext cx="5159187" cy="4176122"/>
          </a:xfr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smtClean="0">
                <a:latin typeface="Times New Roman" panose="02020603050405020304" pitchFamily="18" charset="0"/>
                <a:cs typeface="Times New Roman" panose="02020603050405020304" pitchFamily="18" charset="0"/>
              </a:rPr>
              <a:t>LIBRARIES AND PACKAGES</a:t>
            </a:r>
            <a:endParaRPr lang="en-IN" sz="4000" dirty="0"/>
          </a:p>
        </p:txBody>
      </p:sp>
      <p:sp>
        <p:nvSpPr>
          <p:cNvPr id="3" name="Content Placeholder 2"/>
          <p:cNvSpPr>
            <a:spLocks noGrp="1"/>
          </p:cNvSpPr>
          <p:nvPr>
            <p:ph sz="half" idx="1"/>
          </p:nvPr>
        </p:nvSpPr>
        <p:spPr/>
        <p:txBody>
          <a:bodyPr/>
          <a:lstStyle/>
          <a:p>
            <a:pPr marL="0" indent="0" algn="ctr">
              <a:buNone/>
            </a:pPr>
            <a:r>
              <a:rPr lang="en-US" sz="2400" b="1" dirty="0" smtClean="0"/>
              <a:t>PANDAS</a:t>
            </a:r>
          </a:p>
          <a:p>
            <a:pPr algn="just"/>
            <a:r>
              <a:rPr lang="en-IN" sz="1800" dirty="0" smtClean="0">
                <a:solidFill>
                  <a:schemeClr val="tx1"/>
                </a:solidFill>
                <a:effectLst/>
                <a:latin typeface="Times New Roman" panose="02020603050405020304" pitchFamily="18" charset="0"/>
                <a:ea typeface="Times New Roman" panose="02020603050405020304" pitchFamily="18" charset="0"/>
              </a:rPr>
              <a:t>It is a python library mainly used for data manipulation. </a:t>
            </a:r>
          </a:p>
          <a:p>
            <a:pPr algn="just"/>
            <a:r>
              <a:rPr lang="en-US" sz="1800" dirty="0" smtClean="0">
                <a:solidFill>
                  <a:schemeClr val="tx1"/>
                </a:solidFill>
                <a:latin typeface="Times New Roman" panose="02020603050405020304" pitchFamily="18" charset="0"/>
                <a:ea typeface="Times New Roman" panose="02020603050405020304" pitchFamily="18" charset="0"/>
              </a:rPr>
              <a:t>P</a:t>
            </a:r>
            <a:r>
              <a:rPr lang="en-US" sz="1800" dirty="0" smtClean="0">
                <a:solidFill>
                  <a:schemeClr val="tx1"/>
                </a:solidFill>
                <a:effectLst/>
                <a:latin typeface="Times New Roman" panose="02020603050405020304" pitchFamily="18" charset="0"/>
                <a:ea typeface="Times New Roman" panose="02020603050405020304" pitchFamily="18" charset="0"/>
              </a:rPr>
              <a:t>andas is a fast, powerful, flexible and easy to use open source data analysis and manipulation tool, built on top of the </a:t>
            </a:r>
            <a:r>
              <a:rPr lang="en-US" sz="1800" dirty="0" smtClean="0">
                <a:solidFill>
                  <a:schemeClr val="tx1"/>
                </a:solidFill>
                <a:latin typeface="Times New Roman" panose="02020603050405020304" pitchFamily="18" charset="0"/>
                <a:ea typeface="Times New Roman" panose="02020603050405020304" pitchFamily="18" charset="0"/>
              </a:rPr>
              <a:t>python</a:t>
            </a:r>
            <a:r>
              <a:rPr lang="en-US" sz="1800" dirty="0" smtClean="0">
                <a:solidFill>
                  <a:schemeClr val="tx1"/>
                </a:solidFill>
                <a:effectLst/>
                <a:latin typeface="Times New Roman" panose="02020603050405020304" pitchFamily="18" charset="0"/>
                <a:ea typeface="Times New Roman" panose="02020603050405020304" pitchFamily="18" charset="0"/>
              </a:rPr>
              <a:t> programming language</a:t>
            </a:r>
            <a:endParaRPr lang="en-IN" sz="1800" dirty="0"/>
          </a:p>
        </p:txBody>
      </p:sp>
      <p:sp>
        <p:nvSpPr>
          <p:cNvPr id="4" name="Content Placeholder 3"/>
          <p:cNvSpPr>
            <a:spLocks noGrp="1"/>
          </p:cNvSpPr>
          <p:nvPr>
            <p:ph sz="half" idx="2"/>
          </p:nvPr>
        </p:nvSpPr>
        <p:spPr/>
        <p:txBody>
          <a:bodyPr/>
          <a:lstStyle/>
          <a:p>
            <a:pPr marL="0" indent="0" algn="ctr">
              <a:buNone/>
            </a:pPr>
            <a:r>
              <a:rPr lang="en-US" sz="2400" b="1" dirty="0" smtClean="0">
                <a:latin typeface="Times New Roman" panose="02020603050405020304" pitchFamily="18" charset="0"/>
                <a:cs typeface="Times New Roman" panose="02020603050405020304" pitchFamily="18" charset="0"/>
              </a:rPr>
              <a:t>NUMPY</a:t>
            </a:r>
          </a:p>
          <a:p>
            <a:pPr algn="just"/>
            <a:r>
              <a:rPr lang="en-US" sz="1800" dirty="0" smtClean="0">
                <a:solidFill>
                  <a:srgbClr val="202124"/>
                </a:solidFill>
                <a:latin typeface="Times New Roman" panose="02020603050405020304" pitchFamily="18" charset="0"/>
                <a:ea typeface="Times New Roman" panose="02020603050405020304" pitchFamily="18" charset="0"/>
                <a:cs typeface="Times New Roman" panose="02020603050405020304" pitchFamily="18" charset="0"/>
              </a:rPr>
              <a:t>M</a:t>
            </a:r>
            <a:r>
              <a:rPr lang="en-US" sz="1800" dirty="0" smtClean="0">
                <a:solidFill>
                  <a:srgbClr val="202124"/>
                </a:solidFill>
                <a:effectLst/>
                <a:latin typeface="Times New Roman" panose="02020603050405020304" pitchFamily="18" charset="0"/>
                <a:ea typeface="Times New Roman" panose="02020603050405020304" pitchFamily="18" charset="0"/>
                <a:cs typeface="Times New Roman" panose="02020603050405020304" pitchFamily="18" charset="0"/>
              </a:rPr>
              <a:t>athematical and logical operations on arrays can be performed.</a:t>
            </a:r>
          </a:p>
          <a:p>
            <a:pPr algn="just"/>
            <a:r>
              <a:rPr lang="en-US" sz="1800" dirty="0" smtClean="0">
                <a:solidFill>
                  <a:srgbClr val="202124"/>
                </a:solidFill>
                <a:latin typeface="Times New Roman" panose="02020603050405020304" pitchFamily="18" charset="0"/>
                <a:ea typeface="Times New Roman" panose="02020603050405020304" pitchFamily="18" charset="0"/>
                <a:cs typeface="Times New Roman" panose="02020603050405020304" pitchFamily="18" charset="0"/>
              </a:rPr>
              <a:t>I</a:t>
            </a:r>
            <a:r>
              <a:rPr lang="en-US" sz="1800" dirty="0" smtClean="0">
                <a:solidFill>
                  <a:srgbClr val="202124"/>
                </a:solidFill>
                <a:effectLst/>
                <a:latin typeface="Times New Roman" panose="02020603050405020304" pitchFamily="18" charset="0"/>
                <a:ea typeface="Times New Roman" panose="02020603050405020304" pitchFamily="18" charset="0"/>
                <a:cs typeface="Times New Roman" panose="02020603050405020304" pitchFamily="18" charset="0"/>
              </a:rPr>
              <a:t>s a library consisting of multidimensional array objects and a collection of routines for processing arrays.</a:t>
            </a:r>
          </a:p>
          <a:p>
            <a:endParaRPr lang="en-IN" dirty="0"/>
          </a:p>
        </p:txBody>
      </p:sp>
    </p:spTree>
    <p:extLst>
      <p:ext uri="{BB962C8B-B14F-4D97-AF65-F5344CB8AC3E}">
        <p14:creationId xmlns:p14="http://schemas.microsoft.com/office/powerpoint/2010/main" xmlns="" val="39859110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smtClean="0">
                <a:latin typeface="Times New Roman" panose="02020603050405020304" pitchFamily="18" charset="0"/>
                <a:cs typeface="Times New Roman" panose="02020603050405020304" pitchFamily="18" charset="0"/>
              </a:rPr>
              <a:t>LIBRARIES AND PACKAGES</a:t>
            </a:r>
            <a:endParaRPr lang="en-IN" sz="4000" dirty="0"/>
          </a:p>
        </p:txBody>
      </p:sp>
      <p:sp>
        <p:nvSpPr>
          <p:cNvPr id="3" name="Content Placeholder 2"/>
          <p:cNvSpPr>
            <a:spLocks noGrp="1"/>
          </p:cNvSpPr>
          <p:nvPr>
            <p:ph sz="half" idx="1"/>
          </p:nvPr>
        </p:nvSpPr>
        <p:spPr/>
        <p:txBody>
          <a:bodyPr>
            <a:normAutofit fontScale="85000" lnSpcReduction="10000"/>
          </a:bodyPr>
          <a:lstStyle/>
          <a:p>
            <a:pPr algn="ctr">
              <a:buNone/>
            </a:pPr>
            <a:r>
              <a:rPr lang="en-US" sz="2400" b="1" dirty="0" smtClean="0">
                <a:latin typeface="Times New Roman" pitchFamily="18" charset="0"/>
                <a:cs typeface="Times New Roman" pitchFamily="18" charset="0"/>
              </a:rPr>
              <a:t>MATPLOTLIB AND SEABORN</a:t>
            </a:r>
          </a:p>
          <a:p>
            <a:pPr algn="just"/>
            <a:r>
              <a:rPr lang="en-US" sz="2400" dirty="0" err="1" smtClean="0"/>
              <a:t>Matplotlib</a:t>
            </a:r>
            <a:r>
              <a:rPr lang="en-US" sz="2400" dirty="0" smtClean="0"/>
              <a:t> is a multi-platform data visualization library built on </a:t>
            </a:r>
            <a:r>
              <a:rPr lang="en-US" sz="2400" dirty="0" err="1" smtClean="0"/>
              <a:t>NumPy</a:t>
            </a:r>
            <a:r>
              <a:rPr lang="en-US" sz="2400" dirty="0" smtClean="0"/>
              <a:t> arrays and designed to work with the broader </a:t>
            </a:r>
            <a:r>
              <a:rPr lang="en-US" sz="2400" dirty="0" err="1" smtClean="0"/>
              <a:t>SciPy</a:t>
            </a:r>
            <a:r>
              <a:rPr lang="en-US" sz="2400" dirty="0" smtClean="0"/>
              <a:t> stack. It was introduced by John Hunter in the year 2002. It provides an object-oriented API that helps in embedding plots in applications using Python GUI toolkits such as </a:t>
            </a:r>
            <a:r>
              <a:rPr lang="en-US" sz="2400" dirty="0" err="1" smtClean="0"/>
              <a:t>PyQt</a:t>
            </a:r>
            <a:r>
              <a:rPr lang="en-US" sz="2400" dirty="0" smtClean="0"/>
              <a:t>, </a:t>
            </a:r>
            <a:r>
              <a:rPr lang="en-US" sz="2400" dirty="0" err="1" smtClean="0"/>
              <a:t>WxPythonotTkinter</a:t>
            </a:r>
            <a:r>
              <a:rPr lang="en-US" sz="2400" dirty="0" smtClean="0"/>
              <a:t>. Both are the data visualization library used for plotting graph which will help us in understanding the data. </a:t>
            </a:r>
            <a:endParaRPr lang="en-US" sz="2400" b="1" dirty="0" smtClean="0"/>
          </a:p>
        </p:txBody>
      </p:sp>
      <p:sp>
        <p:nvSpPr>
          <p:cNvPr id="4" name="Content Placeholder 3"/>
          <p:cNvSpPr>
            <a:spLocks noGrp="1"/>
          </p:cNvSpPr>
          <p:nvPr>
            <p:ph sz="half" idx="2"/>
          </p:nvPr>
        </p:nvSpPr>
        <p:spPr>
          <a:xfrm>
            <a:off x="4648200" y="1600200"/>
            <a:ext cx="4038600" cy="4724400"/>
          </a:xfrm>
        </p:spPr>
        <p:txBody>
          <a:bodyPr>
            <a:noAutofit/>
          </a:bodyPr>
          <a:lstStyle/>
          <a:p>
            <a:pPr algn="ctr">
              <a:buNone/>
            </a:pPr>
            <a:r>
              <a:rPr lang="en-US" sz="2000" b="1" dirty="0" smtClean="0"/>
              <a:t>	SCIKET-LEARN</a:t>
            </a:r>
          </a:p>
          <a:p>
            <a:pPr algn="just"/>
            <a:r>
              <a:rPr lang="en-US" sz="2000" dirty="0" err="1" smtClean="0"/>
              <a:t>Scikit</a:t>
            </a:r>
            <a:r>
              <a:rPr lang="en-US" sz="2000" dirty="0" smtClean="0"/>
              <a:t>-learn is a free software machine learning library for the Python programming language. It features various classification, regression and clustering algorithms including support vector machines, random forests, gradient boosting, </a:t>
            </a:r>
            <a:r>
              <a:rPr lang="en-US" sz="2000" i="1" dirty="0" smtClean="0"/>
              <a:t>k-means and DBSCAN, and is designed to interoperate with the Python numerical and scientific libraries </a:t>
            </a:r>
            <a:r>
              <a:rPr lang="en-US" sz="2000" i="1" dirty="0" err="1" smtClean="0"/>
              <a:t>NumPy</a:t>
            </a:r>
            <a:r>
              <a:rPr lang="en-US" sz="2000" i="1" dirty="0" smtClean="0"/>
              <a:t> and </a:t>
            </a:r>
            <a:r>
              <a:rPr lang="en-US" sz="2000" i="1" dirty="0" err="1" smtClean="0"/>
              <a:t>SciPy</a:t>
            </a:r>
            <a:r>
              <a:rPr lang="en-US" sz="2000" i="1" dirty="0" smtClean="0"/>
              <a:t> </a:t>
            </a:r>
            <a:r>
              <a:rPr lang="en-US" sz="2000" dirty="0" smtClean="0">
                <a:solidFill>
                  <a:srgbClr val="202124"/>
                </a:solidFill>
                <a:latin typeface="Times New Roman" panose="02020603050405020304" pitchFamily="18" charset="0"/>
                <a:ea typeface="Times New Roman" panose="02020603050405020304" pitchFamily="18" charset="0"/>
                <a:cs typeface="Times New Roman" panose="02020603050405020304" pitchFamily="18" charset="0"/>
              </a:rPr>
              <a:t>M</a:t>
            </a:r>
            <a:r>
              <a:rPr lang="en-US" sz="2000" dirty="0" smtClean="0">
                <a:solidFill>
                  <a:srgbClr val="202124"/>
                </a:solidFill>
                <a:effectLst/>
                <a:latin typeface="Times New Roman" panose="02020603050405020304" pitchFamily="18" charset="0"/>
                <a:ea typeface="Times New Roman" panose="02020603050405020304" pitchFamily="18" charset="0"/>
                <a:cs typeface="Times New Roman" panose="02020603050405020304" pitchFamily="18" charset="0"/>
              </a:rPr>
              <a:t>athematical and logical operations on arrays can be performed.</a:t>
            </a:r>
          </a:p>
          <a:p>
            <a:pPr algn="just"/>
            <a:endParaRPr lang="en-IN" sz="2000" dirty="0"/>
          </a:p>
        </p:txBody>
      </p:sp>
    </p:spTree>
    <p:extLst>
      <p:ext uri="{BB962C8B-B14F-4D97-AF65-F5344CB8AC3E}">
        <p14:creationId xmlns:p14="http://schemas.microsoft.com/office/powerpoint/2010/main" xmlns="" val="39859110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smtClean="0">
                <a:latin typeface="Times New Roman" panose="02020603050405020304" pitchFamily="18" charset="0"/>
                <a:cs typeface="Times New Roman" panose="02020603050405020304" pitchFamily="18" charset="0"/>
              </a:rPr>
              <a:t>LIBRARIES AND PACKAGES</a:t>
            </a:r>
            <a:endParaRPr lang="en-IN" sz="4000" dirty="0"/>
          </a:p>
        </p:txBody>
      </p:sp>
      <p:sp>
        <p:nvSpPr>
          <p:cNvPr id="3" name="Content Placeholder 2"/>
          <p:cNvSpPr>
            <a:spLocks noGrp="1"/>
          </p:cNvSpPr>
          <p:nvPr>
            <p:ph sz="half" idx="1"/>
          </p:nvPr>
        </p:nvSpPr>
        <p:spPr>
          <a:xfrm>
            <a:off x="457200" y="1600200"/>
            <a:ext cx="4038600" cy="5029200"/>
          </a:xfrm>
        </p:spPr>
        <p:txBody>
          <a:bodyPr>
            <a:noAutofit/>
          </a:bodyPr>
          <a:lstStyle/>
          <a:p>
            <a:pPr algn="ctr">
              <a:buNone/>
            </a:pPr>
            <a:r>
              <a:rPr lang="en-US" sz="1800" b="1" dirty="0" smtClean="0">
                <a:latin typeface="Times New Roman" pitchFamily="18" charset="0"/>
                <a:cs typeface="Times New Roman" pitchFamily="18" charset="0"/>
              </a:rPr>
              <a:t>FLASK</a:t>
            </a:r>
          </a:p>
          <a:p>
            <a:pPr algn="just"/>
            <a:r>
              <a:rPr lang="en-US" sz="1800" dirty="0" smtClean="0">
                <a:latin typeface="Times New Roman" pitchFamily="18" charset="0"/>
                <a:cs typeface="Times New Roman" pitchFamily="18" charset="0"/>
              </a:rPr>
              <a:t>Flask is a web application framework written in Python. It is developed by Armin </a:t>
            </a:r>
            <a:r>
              <a:rPr lang="en-US" sz="1800" dirty="0" err="1" smtClean="0">
                <a:latin typeface="Times New Roman" pitchFamily="18" charset="0"/>
                <a:cs typeface="Times New Roman" pitchFamily="18" charset="0"/>
              </a:rPr>
              <a:t>Ronacher</a:t>
            </a:r>
            <a:r>
              <a:rPr lang="en-US" sz="1800" dirty="0" smtClean="0">
                <a:latin typeface="Times New Roman" pitchFamily="18" charset="0"/>
                <a:cs typeface="Times New Roman" pitchFamily="18" charset="0"/>
              </a:rPr>
              <a:t>, who leads an international group of Python enthusiasts named </a:t>
            </a:r>
            <a:r>
              <a:rPr lang="en-US" sz="1800" dirty="0" err="1" smtClean="0">
                <a:latin typeface="Times New Roman" pitchFamily="18" charset="0"/>
                <a:cs typeface="Times New Roman" pitchFamily="18" charset="0"/>
              </a:rPr>
              <a:t>Pocco</a:t>
            </a:r>
            <a:r>
              <a:rPr lang="en-US" sz="1800" dirty="0" smtClean="0">
                <a:latin typeface="Times New Roman" pitchFamily="18" charset="0"/>
                <a:cs typeface="Times New Roman" pitchFamily="18" charset="0"/>
              </a:rPr>
              <a:t>. Flask is based on the </a:t>
            </a:r>
            <a:r>
              <a:rPr lang="en-US" sz="1800" dirty="0" err="1" smtClean="0">
                <a:latin typeface="Times New Roman" pitchFamily="18" charset="0"/>
                <a:cs typeface="Times New Roman" pitchFamily="18" charset="0"/>
              </a:rPr>
              <a:t>Werkzeug</a:t>
            </a:r>
            <a:r>
              <a:rPr lang="en-US" sz="1800" dirty="0" smtClean="0">
                <a:latin typeface="Times New Roman" pitchFamily="18" charset="0"/>
                <a:cs typeface="Times New Roman" pitchFamily="18" charset="0"/>
              </a:rPr>
              <a:t> WSGI toolkit and Jinja2 template engine. Both are </a:t>
            </a:r>
            <a:r>
              <a:rPr lang="en-US" sz="1800" dirty="0" err="1" smtClean="0">
                <a:latin typeface="Times New Roman" pitchFamily="18" charset="0"/>
                <a:cs typeface="Times New Roman" pitchFamily="18" charset="0"/>
              </a:rPr>
              <a:t>Pocco</a:t>
            </a:r>
            <a:r>
              <a:rPr lang="en-US" sz="1800" dirty="0" smtClean="0">
                <a:latin typeface="Times New Roman" pitchFamily="18" charset="0"/>
                <a:cs typeface="Times New Roman" pitchFamily="18" charset="0"/>
              </a:rPr>
              <a:t> projects.</a:t>
            </a:r>
            <a:endParaRPr lang="en-US" sz="1800" b="1" dirty="0" smtClean="0">
              <a:latin typeface="Times New Roman" pitchFamily="18" charset="0"/>
              <a:cs typeface="Times New Roman" pitchFamily="18" charset="0"/>
            </a:endParaRPr>
          </a:p>
          <a:p>
            <a:pPr algn="just"/>
            <a:r>
              <a:rPr lang="en-IN" sz="1800" dirty="0" smtClean="0">
                <a:solidFill>
                  <a:schemeClr val="tx1"/>
                </a:solidFill>
                <a:effectLst/>
                <a:latin typeface="Times New Roman" pitchFamily="18" charset="0"/>
                <a:ea typeface="Times New Roman" panose="02020603050405020304" pitchFamily="18" charset="0"/>
                <a:cs typeface="Times New Roman" pitchFamily="18" charset="0"/>
              </a:rPr>
              <a:t>It is a python library mainly used for data manipulation. </a:t>
            </a:r>
          </a:p>
          <a:p>
            <a:pPr algn="just"/>
            <a:r>
              <a:rPr lang="en-US" sz="1800" dirty="0" smtClean="0">
                <a:solidFill>
                  <a:schemeClr val="tx1"/>
                </a:solidFill>
                <a:latin typeface="Times New Roman" pitchFamily="18" charset="0"/>
                <a:ea typeface="Times New Roman" panose="02020603050405020304" pitchFamily="18" charset="0"/>
                <a:cs typeface="Times New Roman" pitchFamily="18" charset="0"/>
              </a:rPr>
              <a:t>P</a:t>
            </a:r>
            <a:r>
              <a:rPr lang="en-US" sz="1800" dirty="0" smtClean="0">
                <a:solidFill>
                  <a:schemeClr val="tx1"/>
                </a:solidFill>
                <a:effectLst/>
                <a:latin typeface="Times New Roman" pitchFamily="18" charset="0"/>
                <a:ea typeface="Times New Roman" panose="02020603050405020304" pitchFamily="18" charset="0"/>
                <a:cs typeface="Times New Roman" pitchFamily="18" charset="0"/>
              </a:rPr>
              <a:t>andas is a fast, powerful, flexible and easy to use open source data analysis and manipulation tool, built on top of the </a:t>
            </a:r>
            <a:r>
              <a:rPr lang="en-US" sz="1800" dirty="0" smtClean="0">
                <a:solidFill>
                  <a:schemeClr val="tx1"/>
                </a:solidFill>
                <a:latin typeface="Times New Roman" pitchFamily="18" charset="0"/>
                <a:ea typeface="Times New Roman" panose="02020603050405020304" pitchFamily="18" charset="0"/>
                <a:cs typeface="Times New Roman" pitchFamily="18" charset="0"/>
              </a:rPr>
              <a:t>python</a:t>
            </a:r>
            <a:r>
              <a:rPr lang="en-US" sz="1800" dirty="0" smtClean="0">
                <a:solidFill>
                  <a:schemeClr val="tx1"/>
                </a:solidFill>
                <a:effectLst/>
                <a:latin typeface="Times New Roman" pitchFamily="18" charset="0"/>
                <a:ea typeface="Times New Roman" panose="02020603050405020304" pitchFamily="18" charset="0"/>
                <a:cs typeface="Times New Roman" pitchFamily="18" charset="0"/>
              </a:rPr>
              <a:t> programming language</a:t>
            </a:r>
            <a:endParaRPr lang="en-IN" sz="1800" dirty="0">
              <a:latin typeface="Times New Roman" pitchFamily="18" charset="0"/>
              <a:cs typeface="Times New Roman" pitchFamily="18" charset="0"/>
            </a:endParaRPr>
          </a:p>
        </p:txBody>
      </p:sp>
      <p:sp>
        <p:nvSpPr>
          <p:cNvPr id="4" name="Content Placeholder 3"/>
          <p:cNvSpPr>
            <a:spLocks noGrp="1"/>
          </p:cNvSpPr>
          <p:nvPr>
            <p:ph sz="half" idx="2"/>
          </p:nvPr>
        </p:nvSpPr>
        <p:spPr/>
        <p:txBody>
          <a:bodyPr>
            <a:normAutofit fontScale="92500" lnSpcReduction="10000"/>
          </a:bodyPr>
          <a:lstStyle/>
          <a:p>
            <a:pPr algn="ctr">
              <a:buNone/>
            </a:pPr>
            <a:r>
              <a:rPr lang="en-US" sz="2000" b="1" dirty="0" smtClean="0">
                <a:latin typeface="Times New Roman" pitchFamily="18" charset="0"/>
                <a:cs typeface="Times New Roman" pitchFamily="18" charset="0"/>
              </a:rPr>
              <a:t>REGULAR EXPRESSION</a:t>
            </a:r>
            <a:endParaRPr lang="en-US" sz="2000" dirty="0" smtClean="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A Regular Expressions </a:t>
            </a:r>
            <a:r>
              <a:rPr lang="en-US" sz="2000" dirty="0" smtClean="0">
                <a:latin typeface="Times New Roman" pitchFamily="18" charset="0"/>
                <a:cs typeface="Times New Roman" pitchFamily="18" charset="0"/>
              </a:rPr>
              <a:t>(re)</a:t>
            </a:r>
            <a:r>
              <a:rPr lang="en-US" sz="2000" dirty="0" smtClean="0">
                <a:latin typeface="Times New Roman" pitchFamily="18" charset="0"/>
                <a:cs typeface="Times New Roman" pitchFamily="18" charset="0"/>
              </a:rPr>
              <a:t> is a special sequence of characters that uses a search pattern to find a string or set of strings. It can detect the presence or absence of a text by matching with a particular pattern, and also can split a pattern into one or more sub-patterns. Python provides a re module that supports the use of </a:t>
            </a:r>
            <a:r>
              <a:rPr lang="en-US" sz="2000" dirty="0" err="1" smtClean="0">
                <a:latin typeface="Times New Roman" pitchFamily="18" charset="0"/>
                <a:cs typeface="Times New Roman" pitchFamily="18" charset="0"/>
              </a:rPr>
              <a:t>regex</a:t>
            </a:r>
            <a:r>
              <a:rPr lang="en-US" sz="2000" dirty="0" smtClean="0">
                <a:latin typeface="Times New Roman" pitchFamily="18" charset="0"/>
                <a:cs typeface="Times New Roman" pitchFamily="18" charset="0"/>
              </a:rPr>
              <a:t> in Python. Its primary function is to offer a search, where it takes a regular expression and a string. Here, it either returns the first match or else none</a:t>
            </a:r>
            <a:r>
              <a:rPr lang="en-US" sz="2000" dirty="0" smtClean="0">
                <a:latin typeface="Times New Roman" pitchFamily="18" charset="0"/>
                <a:cs typeface="Times New Roman" pitchFamily="18" charset="0"/>
              </a:rPr>
              <a:t>.</a:t>
            </a:r>
            <a:r>
              <a:rPr lang="en-US" sz="2000" dirty="0" smtClean="0">
                <a:latin typeface="Times New Roman" pitchFamily="18" charset="0"/>
                <a:cs typeface="Times New Roman" pitchFamily="18" charset="0"/>
              </a:rPr>
              <a:t> </a:t>
            </a:r>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xmlns="" val="39859110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smtClean="0">
                <a:latin typeface="Times New Roman" panose="02020603050405020304" pitchFamily="18" charset="0"/>
                <a:cs typeface="Times New Roman" panose="02020603050405020304" pitchFamily="18" charset="0"/>
              </a:rPr>
              <a:t>LIBRARIES AND PACKAGES</a:t>
            </a:r>
            <a:endParaRPr lang="en-IN" sz="4000" dirty="0"/>
          </a:p>
        </p:txBody>
      </p:sp>
      <p:sp>
        <p:nvSpPr>
          <p:cNvPr id="3" name="Content Placeholder 2"/>
          <p:cNvSpPr>
            <a:spLocks noGrp="1"/>
          </p:cNvSpPr>
          <p:nvPr>
            <p:ph sz="half" idx="1"/>
          </p:nvPr>
        </p:nvSpPr>
        <p:spPr/>
        <p:txBody>
          <a:bodyPr>
            <a:normAutofit/>
          </a:bodyPr>
          <a:lstStyle/>
          <a:p>
            <a:pPr algn="ctr">
              <a:buNone/>
            </a:pPr>
            <a:r>
              <a:rPr lang="en-US" sz="2200" b="1" dirty="0" smtClean="0">
                <a:latin typeface="Times New Roman" pitchFamily="18" charset="0"/>
                <a:cs typeface="Times New Roman" pitchFamily="18" charset="0"/>
              </a:rPr>
              <a:t>TENSORFLOW  </a:t>
            </a:r>
          </a:p>
          <a:p>
            <a:pPr algn="just"/>
            <a:r>
              <a:rPr lang="en-US" sz="2200" dirty="0" err="1" smtClean="0">
                <a:latin typeface="Times New Roman" pitchFamily="18" charset="0"/>
                <a:cs typeface="Times New Roman" pitchFamily="18" charset="0"/>
              </a:rPr>
              <a:t>TensorFlow</a:t>
            </a:r>
            <a:r>
              <a:rPr lang="en-US" sz="2200" dirty="0" smtClean="0">
                <a:latin typeface="Times New Roman" pitchFamily="18" charset="0"/>
                <a:cs typeface="Times New Roman" pitchFamily="18" charset="0"/>
              </a:rPr>
              <a:t> is an end-to-end open source platform for machine learning. It has a comprehensive, flexible ecosystem of tools, libraries and community resources that lets researchers push the state-of-the-art in ML and developers easily build and deploy ML powered applications. </a:t>
            </a:r>
            <a:endParaRPr lang="en-US" sz="2200" b="1" dirty="0" smtClean="0">
              <a:latin typeface="Times New Roman" pitchFamily="18" charset="0"/>
              <a:cs typeface="Times New Roman" pitchFamily="18" charset="0"/>
            </a:endParaRPr>
          </a:p>
        </p:txBody>
      </p:sp>
      <p:sp>
        <p:nvSpPr>
          <p:cNvPr id="4" name="Content Placeholder 3"/>
          <p:cNvSpPr>
            <a:spLocks noGrp="1"/>
          </p:cNvSpPr>
          <p:nvPr>
            <p:ph sz="half" idx="2"/>
          </p:nvPr>
        </p:nvSpPr>
        <p:spPr/>
        <p:txBody>
          <a:bodyPr>
            <a:normAutofit/>
          </a:bodyPr>
          <a:lstStyle/>
          <a:p>
            <a:pPr marL="0" indent="0" algn="ctr">
              <a:buNone/>
            </a:pPr>
            <a:r>
              <a:rPr lang="en-US" sz="2000" b="1" dirty="0" smtClean="0">
                <a:latin typeface="Times New Roman" pitchFamily="18" charset="0"/>
                <a:cs typeface="Times New Roman" pitchFamily="18" charset="0"/>
              </a:rPr>
              <a:t>KERAS</a:t>
            </a:r>
          </a:p>
          <a:p>
            <a:pPr algn="just"/>
            <a:r>
              <a:rPr lang="en-US" sz="2000" dirty="0" err="1" smtClean="0">
                <a:latin typeface="Times New Roman" pitchFamily="18" charset="0"/>
                <a:cs typeface="Times New Roman" pitchFamily="18" charset="0"/>
              </a:rPr>
              <a:t>Keras</a:t>
            </a:r>
            <a:r>
              <a:rPr lang="en-US" sz="2000" dirty="0" smtClean="0">
                <a:latin typeface="Times New Roman" pitchFamily="18" charset="0"/>
                <a:cs typeface="Times New Roman" pitchFamily="18" charset="0"/>
              </a:rPr>
              <a:t> is a deep learning API written in Python, running on top of the machine learning platform </a:t>
            </a:r>
            <a:r>
              <a:rPr lang="en-US" sz="2000" dirty="0" err="1" smtClean="0">
                <a:latin typeface="Times New Roman" pitchFamily="18" charset="0"/>
                <a:cs typeface="Times New Roman" pitchFamily="18" charset="0"/>
              </a:rPr>
              <a:t>TensorFlow</a:t>
            </a:r>
            <a:r>
              <a:rPr lang="en-US" sz="2000" dirty="0" smtClean="0">
                <a:latin typeface="Times New Roman" pitchFamily="18" charset="0"/>
                <a:cs typeface="Times New Roman" pitchFamily="18" charset="0"/>
              </a:rPr>
              <a:t>. It was developed with a focus on enabling fast experimentation.</a:t>
            </a:r>
          </a:p>
          <a:p>
            <a:pPr algn="just"/>
            <a:r>
              <a:rPr lang="en-US" sz="2000" dirty="0" smtClean="0">
                <a:latin typeface="Times New Roman" pitchFamily="18" charset="0"/>
                <a:cs typeface="Times New Roman" pitchFamily="18" charset="0"/>
              </a:rPr>
              <a:t>Being able to go from idea to result as fast as possible is key to doing good research.</a:t>
            </a:r>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xmlns="" val="39859110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err="1" smtClean="0"/>
              <a:t>Convolutional</a:t>
            </a:r>
            <a:r>
              <a:rPr lang="en-US" b="1" dirty="0" smtClean="0"/>
              <a:t> Neural Networks</a:t>
            </a:r>
            <a:endParaRPr lang="en-US" dirty="0"/>
          </a:p>
        </p:txBody>
      </p:sp>
      <p:sp>
        <p:nvSpPr>
          <p:cNvPr id="3" name="Content Placeholder 2"/>
          <p:cNvSpPr>
            <a:spLocks noGrp="1"/>
          </p:cNvSpPr>
          <p:nvPr>
            <p:ph idx="1"/>
          </p:nvPr>
        </p:nvSpPr>
        <p:spPr/>
        <p:txBody>
          <a:bodyPr>
            <a:normAutofit fontScale="92500" lnSpcReduction="10000"/>
          </a:bodyPr>
          <a:lstStyle/>
          <a:p>
            <a:pPr algn="just"/>
            <a:r>
              <a:rPr lang="en-US" sz="2200" dirty="0" smtClean="0">
                <a:latin typeface="Times New Roman" pitchFamily="18" charset="0"/>
                <a:cs typeface="Times New Roman" pitchFamily="18" charset="0"/>
              </a:rPr>
              <a:t>It is assumed that the reader knows the concept of Neural networks.</a:t>
            </a:r>
            <a:br>
              <a:rPr lang="en-US" sz="2200" dirty="0" smtClean="0">
                <a:latin typeface="Times New Roman" pitchFamily="18" charset="0"/>
                <a:cs typeface="Times New Roman" pitchFamily="18" charset="0"/>
              </a:rPr>
            </a:br>
            <a:r>
              <a:rPr lang="en-US" sz="2200" dirty="0" smtClean="0">
                <a:latin typeface="Times New Roman" pitchFamily="18" charset="0"/>
                <a:cs typeface="Times New Roman" pitchFamily="18" charset="0"/>
              </a:rPr>
              <a:t>When it comes to Machine Learning, Artificial Neural Networks perform really well. Artificial Neural Networks are used in various classification tasks like image, audio, words. Different types of Neural Networks are used for different purposes, for example for predicting the sequence of words we use Recurrent Neural Networks more precisely an LSTM, similarly for image classification we use Convolution Neural Networks.</a:t>
            </a:r>
            <a:r>
              <a:rPr lang="en-US" sz="2400" dirty="0" smtClean="0"/>
              <a:t> A basic </a:t>
            </a:r>
            <a:r>
              <a:rPr lang="en-US" sz="2400" dirty="0" err="1" smtClean="0"/>
              <a:t>convolutional</a:t>
            </a:r>
            <a:r>
              <a:rPr lang="en-US" sz="2400" dirty="0" smtClean="0"/>
              <a:t> neural network comprises three components, namely, the </a:t>
            </a:r>
            <a:r>
              <a:rPr lang="en-US" sz="2400" dirty="0" err="1" smtClean="0"/>
              <a:t>convolutional</a:t>
            </a:r>
            <a:r>
              <a:rPr lang="en-US" sz="2400" dirty="0" smtClean="0"/>
              <a:t> layer, the pooling layer and the output layer. The pooling layer is optional sometimes. The typical </a:t>
            </a:r>
            <a:r>
              <a:rPr lang="en-US" sz="2400" dirty="0" err="1" smtClean="0"/>
              <a:t>convolutional</a:t>
            </a:r>
            <a:r>
              <a:rPr lang="en-US" sz="2400" dirty="0" smtClean="0"/>
              <a:t> neural network architecture with three </a:t>
            </a:r>
            <a:r>
              <a:rPr lang="en-US" sz="2400" dirty="0" err="1" smtClean="0"/>
              <a:t>convolutional</a:t>
            </a:r>
            <a:r>
              <a:rPr lang="en-US" sz="2400" dirty="0" smtClean="0"/>
              <a:t> layers is well adapted for the classification of handwritten images as shown in Figure 1. It consists of the input layer, multiple hidden layers (repetitions of </a:t>
            </a:r>
            <a:r>
              <a:rPr lang="en-US" sz="2400" dirty="0" err="1" smtClean="0"/>
              <a:t>convolutional</a:t>
            </a:r>
            <a:r>
              <a:rPr lang="en-US" sz="2400" dirty="0" smtClean="0"/>
              <a:t>, normalization, pooling) and a fully connected and an output layer.</a:t>
            </a:r>
          </a:p>
          <a:p>
            <a:pPr algn="just"/>
            <a:endParaRPr lang="en-US" sz="2200" dirty="0" smtClean="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None/>
            </a:pPr>
            <a:endParaRPr lang="en-US" dirty="0"/>
          </a:p>
        </p:txBody>
      </p:sp>
      <p:pic>
        <p:nvPicPr>
          <p:cNvPr id="4" name="Picture 3" descr="111.PNG"/>
          <p:cNvPicPr/>
          <p:nvPr/>
        </p:nvPicPr>
        <p:blipFill>
          <a:blip r:embed="rId2" cstate="print"/>
          <a:stretch>
            <a:fillRect/>
          </a:stretch>
        </p:blipFill>
        <p:spPr>
          <a:xfrm>
            <a:off x="2209800" y="2667000"/>
            <a:ext cx="4953000" cy="228987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fontScale="70000" lnSpcReduction="20000"/>
          </a:bodyPr>
          <a:lstStyle/>
          <a:p>
            <a:pPr algn="just"/>
            <a:r>
              <a:rPr lang="en-IN" b="1" dirty="0" smtClean="0"/>
              <a:t>Input Layer:</a:t>
            </a:r>
            <a:r>
              <a:rPr lang="en-IN" dirty="0" smtClean="0"/>
              <a:t> </a:t>
            </a:r>
            <a:r>
              <a:rPr lang="en-US" dirty="0" smtClean="0"/>
              <a:t>The </a:t>
            </a:r>
            <a:r>
              <a:rPr lang="en-US" dirty="0" smtClean="0"/>
              <a:t>input data is loaded and stored in the input layer. This layer describes the height, width and number of channels (RGB information) of the input image.</a:t>
            </a:r>
          </a:p>
          <a:p>
            <a:pPr algn="just"/>
            <a:r>
              <a:rPr lang="en-US" b="1" dirty="0" smtClean="0"/>
              <a:t>Hidden Layer</a:t>
            </a:r>
            <a:r>
              <a:rPr lang="en-US" dirty="0" smtClean="0"/>
              <a:t> : </a:t>
            </a:r>
          </a:p>
          <a:p>
            <a:pPr algn="just">
              <a:buNone/>
            </a:pPr>
            <a:r>
              <a:rPr lang="en-US" dirty="0" smtClean="0"/>
              <a:t>	The </a:t>
            </a:r>
            <a:r>
              <a:rPr lang="en-US" dirty="0" smtClean="0"/>
              <a:t>hidden layers are the backbone of CNN architecture. They perform a feature extraction process where a series of convolution, pooling and activation functions are used. The distinguishable features of handwritten digits are detected at this stage.</a:t>
            </a:r>
          </a:p>
          <a:p>
            <a:pPr algn="just"/>
            <a:r>
              <a:rPr lang="en-US" b="1" dirty="0" err="1" smtClean="0"/>
              <a:t>Convolutional</a:t>
            </a:r>
            <a:r>
              <a:rPr lang="en-US" b="1" dirty="0" smtClean="0"/>
              <a:t> Layer</a:t>
            </a:r>
            <a:r>
              <a:rPr lang="en-US" dirty="0" smtClean="0"/>
              <a:t> : </a:t>
            </a:r>
          </a:p>
          <a:p>
            <a:pPr algn="just">
              <a:buNone/>
            </a:pPr>
            <a:r>
              <a:rPr lang="en-US" dirty="0" smtClean="0"/>
              <a:t> </a:t>
            </a:r>
            <a:r>
              <a:rPr lang="en-US" dirty="0" smtClean="0"/>
              <a:t>	The </a:t>
            </a:r>
            <a:r>
              <a:rPr lang="en-US" dirty="0" err="1" smtClean="0"/>
              <a:t>convolutional</a:t>
            </a:r>
            <a:r>
              <a:rPr lang="en-US" dirty="0" smtClean="0"/>
              <a:t> layer is the first layer placed above the input image. It is used for extracting the features of an image. The n × n input neurons of the input layer are convoluted with an m × m filter and in return deliver (n − m + 1) × (n − m + 1) as output. It introduces non-linearity through a neural activation function. The main contributors of the </a:t>
            </a:r>
            <a:r>
              <a:rPr lang="en-US" dirty="0" err="1" smtClean="0"/>
              <a:t>convolutional</a:t>
            </a:r>
            <a:r>
              <a:rPr lang="en-US" dirty="0" smtClean="0"/>
              <a:t> layer are receptive field, stride, dilation and padding, as described in the following paragraph. CNN computation is inspired by the visual cortex in animals . The visual cortex is a part of the brain that processes the information forwarded from the retina. It processes visual information and is subtle to small sub-regions of the input. </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6248400"/>
          </a:xfrm>
        </p:spPr>
        <p:txBody>
          <a:bodyPr>
            <a:noAutofit/>
          </a:bodyPr>
          <a:lstStyle/>
          <a:p>
            <a:pPr algn="just">
              <a:buNone/>
            </a:pPr>
            <a:r>
              <a:rPr lang="en-US" sz="2000" dirty="0" smtClean="0">
                <a:latin typeface="Times New Roman" pitchFamily="18" charset="0"/>
                <a:ea typeface="Tahoma" pitchFamily="34" charset="0"/>
                <a:cs typeface="Times New Roman" pitchFamily="18" charset="0"/>
              </a:rPr>
              <a:t>	Similarly</a:t>
            </a:r>
            <a:r>
              <a:rPr lang="en-US" sz="2000" dirty="0" smtClean="0">
                <a:latin typeface="Times New Roman" pitchFamily="18" charset="0"/>
                <a:ea typeface="Tahoma" pitchFamily="34" charset="0"/>
                <a:cs typeface="Times New Roman" pitchFamily="18" charset="0"/>
              </a:rPr>
              <a:t>, a receptive field is calculated in a CNN, which is a small region of an input image that can affect a specific region of the network. It is also one of the important design parameters of the CNN architecture and helps in setting other CNN parameters . It has the same size as the kernel and works in a similar fashion as the </a:t>
            </a:r>
            <a:r>
              <a:rPr lang="en-US" sz="2000" dirty="0" err="1" smtClean="0">
                <a:latin typeface="Times New Roman" pitchFamily="18" charset="0"/>
                <a:ea typeface="Tahoma" pitchFamily="34" charset="0"/>
                <a:cs typeface="Times New Roman" pitchFamily="18" charset="0"/>
              </a:rPr>
              <a:t>foveal</a:t>
            </a:r>
            <a:r>
              <a:rPr lang="en-US" sz="2000" dirty="0" smtClean="0">
                <a:latin typeface="Times New Roman" pitchFamily="18" charset="0"/>
                <a:ea typeface="Tahoma" pitchFamily="34" charset="0"/>
                <a:cs typeface="Times New Roman" pitchFamily="18" charset="0"/>
              </a:rPr>
              <a:t> vision of the human eye works for producing sharp central vision</a:t>
            </a:r>
            <a:r>
              <a:rPr lang="en-US" sz="2000" dirty="0" smtClean="0">
                <a:latin typeface="Times New Roman" pitchFamily="18" charset="0"/>
                <a:ea typeface="Tahoma" pitchFamily="34" charset="0"/>
                <a:cs typeface="Times New Roman" pitchFamily="18" charset="0"/>
              </a:rPr>
              <a:t>.</a:t>
            </a:r>
          </a:p>
          <a:p>
            <a:pPr algn="just"/>
            <a:endParaRPr lang="en-US" sz="2000" dirty="0" smtClean="0">
              <a:latin typeface="Times New Roman" pitchFamily="18" charset="0"/>
              <a:ea typeface="Tahoma" pitchFamily="34" charset="0"/>
              <a:cs typeface="Times New Roman" pitchFamily="18" charset="0"/>
            </a:endParaRPr>
          </a:p>
          <a:p>
            <a:pPr algn="just"/>
            <a:endParaRPr lang="en-US" sz="2000" dirty="0" smtClean="0">
              <a:latin typeface="Times New Roman" pitchFamily="18" charset="0"/>
              <a:ea typeface="Tahoma" pitchFamily="34" charset="0"/>
              <a:cs typeface="Times New Roman" pitchFamily="18" charset="0"/>
            </a:endParaRPr>
          </a:p>
          <a:p>
            <a:pPr algn="just"/>
            <a:endParaRPr lang="en-US" sz="2000" dirty="0" smtClean="0">
              <a:latin typeface="Times New Roman" pitchFamily="18" charset="0"/>
              <a:ea typeface="Tahoma" pitchFamily="34" charset="0"/>
              <a:cs typeface="Times New Roman" pitchFamily="18" charset="0"/>
            </a:endParaRPr>
          </a:p>
          <a:p>
            <a:pPr algn="just"/>
            <a:endParaRPr lang="en-US" sz="2000" dirty="0" smtClean="0">
              <a:latin typeface="Times New Roman" pitchFamily="18" charset="0"/>
              <a:ea typeface="Tahoma" pitchFamily="34" charset="0"/>
              <a:cs typeface="Times New Roman" pitchFamily="18" charset="0"/>
            </a:endParaRPr>
          </a:p>
          <a:p>
            <a:pPr algn="just"/>
            <a:endParaRPr lang="en-US" sz="2000" dirty="0" smtClean="0">
              <a:latin typeface="Times New Roman" pitchFamily="18" charset="0"/>
              <a:ea typeface="Tahoma" pitchFamily="34" charset="0"/>
              <a:cs typeface="Times New Roman" pitchFamily="18" charset="0"/>
            </a:endParaRPr>
          </a:p>
          <a:p>
            <a:pPr algn="just"/>
            <a:r>
              <a:rPr lang="en-US" sz="2000" b="1" dirty="0" smtClean="0">
                <a:latin typeface="Times New Roman" pitchFamily="18" charset="0"/>
                <a:ea typeface="Tahoma" pitchFamily="34" charset="0"/>
                <a:cs typeface="Times New Roman" pitchFamily="18" charset="0"/>
              </a:rPr>
              <a:t>Pooling Layer</a:t>
            </a:r>
            <a:endParaRPr lang="en-US" sz="2000" dirty="0" smtClean="0">
              <a:latin typeface="Times New Roman" pitchFamily="18" charset="0"/>
              <a:ea typeface="Tahoma" pitchFamily="34" charset="0"/>
              <a:cs typeface="Times New Roman" pitchFamily="18" charset="0"/>
            </a:endParaRPr>
          </a:p>
          <a:p>
            <a:pPr algn="just">
              <a:buNone/>
            </a:pPr>
            <a:r>
              <a:rPr lang="en-US" sz="2000" dirty="0" smtClean="0">
                <a:latin typeface="Times New Roman" pitchFamily="18" charset="0"/>
                <a:ea typeface="Tahoma" pitchFamily="34" charset="0"/>
                <a:cs typeface="Times New Roman" pitchFamily="18" charset="0"/>
              </a:rPr>
              <a:t>	A </a:t>
            </a:r>
            <a:r>
              <a:rPr lang="en-US" sz="2000" dirty="0" smtClean="0">
                <a:latin typeface="Times New Roman" pitchFamily="18" charset="0"/>
                <a:ea typeface="Tahoma" pitchFamily="34" charset="0"/>
                <a:cs typeface="Times New Roman" pitchFamily="18" charset="0"/>
              </a:rPr>
              <a:t>pooling layer is added between two </a:t>
            </a:r>
            <a:r>
              <a:rPr lang="en-US" sz="2000" dirty="0" err="1" smtClean="0">
                <a:latin typeface="Times New Roman" pitchFamily="18" charset="0"/>
                <a:ea typeface="Tahoma" pitchFamily="34" charset="0"/>
                <a:cs typeface="Times New Roman" pitchFamily="18" charset="0"/>
              </a:rPr>
              <a:t>convolutional</a:t>
            </a:r>
            <a:r>
              <a:rPr lang="en-US" sz="2000" dirty="0" smtClean="0">
                <a:latin typeface="Times New Roman" pitchFamily="18" charset="0"/>
                <a:ea typeface="Tahoma" pitchFamily="34" charset="0"/>
                <a:cs typeface="Times New Roman" pitchFamily="18" charset="0"/>
              </a:rPr>
              <a:t> layers to reduce the input dimensionality and hence to reduce the computational complexity. Pooling allows the selected values to be passed to the next layer while leaving the unnecessary values behind. The pooling layer also helps in feature selection and in controlling </a:t>
            </a:r>
            <a:r>
              <a:rPr lang="en-US" sz="2000" dirty="0" err="1" smtClean="0">
                <a:latin typeface="Times New Roman" pitchFamily="18" charset="0"/>
                <a:ea typeface="Tahoma" pitchFamily="34" charset="0"/>
                <a:cs typeface="Times New Roman" pitchFamily="18" charset="0"/>
              </a:rPr>
              <a:t>overfitting</a:t>
            </a:r>
            <a:r>
              <a:rPr lang="en-US" sz="2000" dirty="0" smtClean="0">
                <a:latin typeface="Times New Roman" pitchFamily="18" charset="0"/>
                <a:ea typeface="Tahoma" pitchFamily="34" charset="0"/>
                <a:cs typeface="Times New Roman" pitchFamily="18" charset="0"/>
              </a:rPr>
              <a:t>. The pooling operation is done independently. It works by extracting only one output value from the tiled non-overlapping sub-regions of the input </a:t>
            </a:r>
            <a:r>
              <a:rPr lang="en-US" sz="2000" dirty="0" smtClean="0">
                <a:latin typeface="Times New Roman" pitchFamily="18" charset="0"/>
                <a:ea typeface="Tahoma" pitchFamily="34" charset="0"/>
                <a:cs typeface="Times New Roman" pitchFamily="18" charset="0"/>
              </a:rPr>
              <a:t>images</a:t>
            </a:r>
            <a:endParaRPr lang="en-US" sz="2000" dirty="0" smtClean="0">
              <a:latin typeface="Times New Roman" pitchFamily="18" charset="0"/>
              <a:ea typeface="Tahoma" pitchFamily="34" charset="0"/>
              <a:cs typeface="Times New Roman" pitchFamily="18" charset="0"/>
            </a:endParaRPr>
          </a:p>
          <a:p>
            <a:pPr algn="just"/>
            <a:endParaRPr lang="en-US" sz="2000" dirty="0">
              <a:latin typeface="Times New Roman" pitchFamily="18" charset="0"/>
              <a:ea typeface="Tahoma" pitchFamily="34" charset="0"/>
              <a:cs typeface="Times New Roman" pitchFamily="18" charset="0"/>
            </a:endParaRPr>
          </a:p>
        </p:txBody>
      </p:sp>
      <p:pic>
        <p:nvPicPr>
          <p:cNvPr id="4" name="Picture 3" descr="22.PNG"/>
          <p:cNvPicPr/>
          <p:nvPr/>
        </p:nvPicPr>
        <p:blipFill>
          <a:blip r:embed="rId2" cstate="print"/>
          <a:stretch>
            <a:fillRect/>
          </a:stretch>
        </p:blipFill>
        <p:spPr>
          <a:xfrm>
            <a:off x="3505200" y="2286000"/>
            <a:ext cx="1760373" cy="14936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16.jpeg"/>
          <p:cNvPicPr>
            <a:picLocks noGrp="1"/>
          </p:cNvPicPr>
          <p:nvPr>
            <p:ph idx="1"/>
          </p:nvPr>
        </p:nvPicPr>
        <p:blipFill>
          <a:blip r:embed="rId2" cstate="print"/>
          <a:stretch>
            <a:fillRect/>
          </a:stretch>
        </p:blipFill>
        <p:spPr>
          <a:xfrm>
            <a:off x="1790700" y="2872581"/>
            <a:ext cx="5562600" cy="19812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a:bodyPr>
          <a:lstStyle/>
          <a:p>
            <a:pPr algn="just"/>
            <a:r>
              <a:rPr lang="en-US" sz="2200" b="1" dirty="0" smtClean="0">
                <a:latin typeface="Times New Roman" pitchFamily="18" charset="0"/>
                <a:cs typeface="Times New Roman" pitchFamily="18" charset="0"/>
              </a:rPr>
              <a:t>Classification Layer:</a:t>
            </a:r>
            <a:r>
              <a:rPr lang="en-US" sz="2200" dirty="0" smtClean="0">
                <a:latin typeface="Times New Roman" pitchFamily="18" charset="0"/>
                <a:cs typeface="Times New Roman" pitchFamily="18" charset="0"/>
              </a:rPr>
              <a:t> The classification layer is the last layer in CNN architecture. It is a fully connected feed forward network, mainly adopted as a classifier. The neurons in the fully connected layers are connected to all the neurons of the previous layer. This layer calculates predicted classes by identifying the input image, which is done by combining all the features learned by previous layers. The number of output classes depends on the number of classes present in the target dataset. In the present work, the classification layer uses the ‘</a:t>
            </a:r>
            <a:r>
              <a:rPr lang="en-US" sz="2200" dirty="0" err="1" smtClean="0">
                <a:latin typeface="Times New Roman" pitchFamily="18" charset="0"/>
                <a:cs typeface="Times New Roman" pitchFamily="18" charset="0"/>
              </a:rPr>
              <a:t>softmax</a:t>
            </a:r>
            <a:r>
              <a:rPr lang="en-US" sz="2200" dirty="0" smtClean="0">
                <a:latin typeface="Times New Roman" pitchFamily="18" charset="0"/>
                <a:cs typeface="Times New Roman" pitchFamily="18" charset="0"/>
              </a:rPr>
              <a:t>’ activation function for classifying the generated features of the input image received from the previous layer into various classes based on the training data.</a:t>
            </a:r>
          </a:p>
          <a:p>
            <a:pPr algn="just"/>
            <a:endParaRPr lang="en-US" sz="2200" dirty="0">
              <a:latin typeface="Times New Roman" pitchFamily="18" charset="0"/>
              <a:cs typeface="Times New Roman"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RANDOM FOREST</a:t>
            </a:r>
            <a:endParaRPr lang="en-US" dirty="0"/>
          </a:p>
        </p:txBody>
      </p:sp>
      <p:sp>
        <p:nvSpPr>
          <p:cNvPr id="3" name="Content Placeholder 2"/>
          <p:cNvSpPr>
            <a:spLocks noGrp="1"/>
          </p:cNvSpPr>
          <p:nvPr>
            <p:ph idx="1"/>
          </p:nvPr>
        </p:nvSpPr>
        <p:spPr/>
        <p:txBody>
          <a:bodyPr>
            <a:normAutofit fontScale="70000" lnSpcReduction="20000"/>
          </a:bodyPr>
          <a:lstStyle/>
          <a:p>
            <a:pPr algn="just" fontAlgn="base"/>
            <a:r>
              <a:rPr lang="en-US" dirty="0" smtClean="0"/>
              <a:t>A Random Forest is an ensemble technique capable of performing both regression and classification tasks with the use of multiple decision trees and a technique called Bootstrap and Aggregation, commonly known as bagging. The basic idea behind this is to combine multiple decision trees in determining the final output rather than relying on individual decision trees. </a:t>
            </a:r>
            <a:br>
              <a:rPr lang="en-US" dirty="0" smtClean="0"/>
            </a:br>
            <a:r>
              <a:rPr lang="en-US" dirty="0" smtClean="0"/>
              <a:t>Random Forest has multiple decision trees as base learning models. We randomly perform row sampling and feature sampling from the dataset forming sample datasets for every model. </a:t>
            </a:r>
          </a:p>
          <a:p>
            <a:pPr fontAlgn="base">
              <a:buNone/>
            </a:pPr>
            <a:r>
              <a:rPr lang="en-US" dirty="0" smtClean="0"/>
              <a:t>	This part is called Bootstrap.</a:t>
            </a:r>
            <a:br>
              <a:rPr lang="en-US" dirty="0" smtClean="0"/>
            </a:br>
            <a:r>
              <a:rPr lang="en-US" dirty="0" smtClean="0"/>
              <a:t>We need to approach the Random Forest regression technique like any other machine learning technique </a:t>
            </a:r>
          </a:p>
          <a:p>
            <a:pPr fontAlgn="base">
              <a:buNone/>
            </a:pPr>
            <a:r>
              <a:rPr lang="en-US" dirty="0" smtClean="0"/>
              <a:t>	Design a specific question or data and get the source to determine the required data.</a:t>
            </a:r>
            <a:br>
              <a:rPr lang="en-US" dirty="0" smtClean="0"/>
            </a:br>
            <a:endParaRPr lang="en-US" dirty="0" smtClean="0"/>
          </a:p>
          <a:p>
            <a:pPr algn="just"/>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rfc_vs_dt1.png"/>
          <p:cNvPicPr>
            <a:picLocks noGrp="1" noChangeAspect="1"/>
          </p:cNvPicPr>
          <p:nvPr>
            <p:ph idx="1"/>
          </p:nvPr>
        </p:nvPicPr>
        <p:blipFill>
          <a:blip r:embed="rId2" cstate="print"/>
          <a:stretch>
            <a:fillRect/>
          </a:stretch>
        </p:blipFill>
        <p:spPr>
          <a:xfrm>
            <a:off x="1748790" y="1950561"/>
            <a:ext cx="5646420" cy="3825240"/>
          </a:xfr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Use Case Diagram</a:t>
            </a:r>
            <a:endParaRPr lang="en-US" dirty="0"/>
          </a:p>
        </p:txBody>
      </p:sp>
      <p:pic>
        <p:nvPicPr>
          <p:cNvPr id="4" name="Content Placeholder 3" descr="2.PNG"/>
          <p:cNvPicPr>
            <a:picLocks noGrp="1" noChangeAspect="1"/>
          </p:cNvPicPr>
          <p:nvPr>
            <p:ph idx="1"/>
          </p:nvPr>
        </p:nvPicPr>
        <p:blipFill>
          <a:blip r:embed="rId2" cstate="print"/>
          <a:stretch>
            <a:fillRect/>
          </a:stretch>
        </p:blipFill>
        <p:spPr>
          <a:xfrm>
            <a:off x="2213192" y="1600200"/>
            <a:ext cx="4717616" cy="4525963"/>
          </a:xfr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Activity Diagram</a:t>
            </a:r>
            <a:endParaRPr lang="en-US" dirty="0"/>
          </a:p>
        </p:txBody>
      </p:sp>
      <p:pic>
        <p:nvPicPr>
          <p:cNvPr id="4" name="Content Placeholder 3" descr="Activity.PNG"/>
          <p:cNvPicPr>
            <a:picLocks noGrp="1" noChangeAspect="1"/>
          </p:cNvPicPr>
          <p:nvPr>
            <p:ph idx="1"/>
          </p:nvPr>
        </p:nvPicPr>
        <p:blipFill>
          <a:blip r:embed="rId2" cstate="print"/>
          <a:stretch>
            <a:fillRect/>
          </a:stretch>
        </p:blipFill>
        <p:spPr>
          <a:xfrm>
            <a:off x="2477013" y="1600200"/>
            <a:ext cx="4189974" cy="4525963"/>
          </a:xfr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Sequence Diagram</a:t>
            </a:r>
            <a:endParaRPr lang="en-US" dirty="0"/>
          </a:p>
        </p:txBody>
      </p:sp>
      <p:pic>
        <p:nvPicPr>
          <p:cNvPr id="4" name="Content Placeholder 3" descr="Sequence.PNG"/>
          <p:cNvPicPr>
            <a:picLocks noGrp="1" noChangeAspect="1"/>
          </p:cNvPicPr>
          <p:nvPr>
            <p:ph idx="1"/>
          </p:nvPr>
        </p:nvPicPr>
        <p:blipFill>
          <a:blip r:embed="rId2" cstate="print"/>
          <a:stretch>
            <a:fillRect/>
          </a:stretch>
        </p:blipFill>
        <p:spPr>
          <a:xfrm>
            <a:off x="2332313" y="1600200"/>
            <a:ext cx="4479373" cy="4525963"/>
          </a:xfr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609600" y="1676400"/>
          <a:ext cx="8229600" cy="3479800"/>
        </p:xfrm>
        <a:graphic>
          <a:graphicData uri="http://schemas.openxmlformats.org/drawingml/2006/table">
            <a:tbl>
              <a:tblPr firstRow="1" bandRow="1">
                <a:tableStyleId>{7DF18680-E054-41AD-8BC1-D1AEF772440D}</a:tableStyleId>
              </a:tblPr>
              <a:tblGrid>
                <a:gridCol w="4114800"/>
                <a:gridCol w="4114800"/>
              </a:tblGrid>
              <a:tr h="370840">
                <a:tc>
                  <a:txBody>
                    <a:bodyPr/>
                    <a:lstStyle/>
                    <a:p>
                      <a:pPr algn="ctr"/>
                      <a:r>
                        <a:rPr lang="en-US" dirty="0" smtClean="0"/>
                        <a:t>NAME</a:t>
                      </a:r>
                      <a:r>
                        <a:rPr lang="en-US" baseline="0" dirty="0" smtClean="0"/>
                        <a:t> OF THE ALGORITHM</a:t>
                      </a:r>
                      <a:endParaRPr lang="en-US" dirty="0"/>
                    </a:p>
                  </a:txBody>
                  <a:tcPr/>
                </a:tc>
                <a:tc>
                  <a:txBody>
                    <a:bodyPr/>
                    <a:lstStyle/>
                    <a:p>
                      <a:pPr algn="ctr"/>
                      <a:r>
                        <a:rPr lang="en-US" dirty="0" smtClean="0"/>
                        <a:t>ACCURACY</a:t>
                      </a:r>
                      <a:endParaRPr lang="en-US" dirty="0"/>
                    </a:p>
                  </a:txBody>
                  <a:tcPr/>
                </a:tc>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kern="1200" baseline="0" dirty="0" smtClean="0">
                          <a:solidFill>
                            <a:schemeClr val="dk1"/>
                          </a:solidFill>
                          <a:latin typeface="+mn-lt"/>
                          <a:ea typeface="+mn-ea"/>
                          <a:cs typeface="+mn-cs"/>
                        </a:rPr>
                        <a:t>Random Forest Review Based 	</a:t>
                      </a:r>
                    </a:p>
                    <a:p>
                      <a:pPr algn="ctr"/>
                      <a:endParaRPr lang="en-US" dirty="0"/>
                    </a:p>
                  </a:txBody>
                  <a:tcPr/>
                </a:tc>
                <a:tc>
                  <a:txBody>
                    <a:bodyPr/>
                    <a:lstStyle/>
                    <a:p>
                      <a:pPr algn="ctr"/>
                      <a:r>
                        <a:rPr lang="en-US" sz="1800" kern="1200" baseline="0" dirty="0" smtClean="0">
                          <a:solidFill>
                            <a:schemeClr val="dk1"/>
                          </a:solidFill>
                          <a:latin typeface="+mn-lt"/>
                          <a:ea typeface="+mn-ea"/>
                          <a:cs typeface="+mn-cs"/>
                        </a:rPr>
                        <a:t>81.84% 	</a:t>
                      </a:r>
                      <a:endParaRPr lang="en-US" dirty="0"/>
                    </a:p>
                  </a:txBody>
                  <a:tcPr/>
                </a:tc>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kern="1200" baseline="0" dirty="0" smtClean="0">
                          <a:solidFill>
                            <a:schemeClr val="dk1"/>
                          </a:solidFill>
                          <a:latin typeface="+mn-lt"/>
                          <a:ea typeface="+mn-ea"/>
                          <a:cs typeface="+mn-cs"/>
                        </a:rPr>
                        <a:t>Random Forest Rating Based 	</a:t>
                      </a:r>
                    </a:p>
                    <a:p>
                      <a:pPr algn="ctr"/>
                      <a:endParaRPr lang="en-US" dirty="0"/>
                    </a:p>
                  </a:txBody>
                  <a:tcPr/>
                </a:tc>
                <a:tc>
                  <a:txBody>
                    <a:bodyPr/>
                    <a:lstStyle/>
                    <a:p>
                      <a:pPr algn="ctr"/>
                      <a:r>
                        <a:rPr lang="en-US" sz="1800" kern="1200" baseline="0" dirty="0" smtClean="0">
                          <a:solidFill>
                            <a:schemeClr val="dk1"/>
                          </a:solidFill>
                          <a:latin typeface="+mn-lt"/>
                          <a:ea typeface="+mn-ea"/>
                          <a:cs typeface="+mn-cs"/>
                        </a:rPr>
                        <a:t>92.76% 	</a:t>
                      </a:r>
                      <a:endParaRPr lang="en-US" dirty="0"/>
                    </a:p>
                  </a:txBody>
                  <a:tcPr/>
                </a:tc>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kern="1200" baseline="0" dirty="0" err="1" smtClean="0">
                          <a:solidFill>
                            <a:schemeClr val="dk1"/>
                          </a:solidFill>
                          <a:latin typeface="+mn-lt"/>
                          <a:ea typeface="+mn-ea"/>
                          <a:cs typeface="+mn-cs"/>
                        </a:rPr>
                        <a:t>Convolutional</a:t>
                      </a:r>
                      <a:r>
                        <a:rPr lang="en-US" sz="1800" kern="1200" baseline="0" dirty="0" smtClean="0">
                          <a:solidFill>
                            <a:schemeClr val="dk1"/>
                          </a:solidFill>
                          <a:latin typeface="+mn-lt"/>
                          <a:ea typeface="+mn-ea"/>
                          <a:cs typeface="+mn-cs"/>
                        </a:rPr>
                        <a:t> Neural Networks Review Based 		</a:t>
                      </a:r>
                    </a:p>
                    <a:p>
                      <a:pPr algn="ctr"/>
                      <a:endParaRPr lang="en-US" dirty="0"/>
                    </a:p>
                  </a:txBody>
                  <a:tcPr/>
                </a:tc>
                <a:tc>
                  <a:txBody>
                    <a:bodyPr/>
                    <a:lstStyle/>
                    <a:p>
                      <a:pPr algn="ctr"/>
                      <a:r>
                        <a:rPr lang="en-US" sz="1800" kern="1200" baseline="0" dirty="0" smtClean="0">
                          <a:solidFill>
                            <a:schemeClr val="dk1"/>
                          </a:solidFill>
                          <a:latin typeface="+mn-lt"/>
                          <a:ea typeface="+mn-ea"/>
                          <a:cs typeface="+mn-cs"/>
                        </a:rPr>
                        <a:t>87.89% </a:t>
                      </a:r>
                      <a:endParaRPr lang="en-US" dirty="0"/>
                    </a:p>
                  </a:txBody>
                  <a:tcPr/>
                </a:tc>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kern="1200" baseline="0" dirty="0" err="1" smtClean="0">
                          <a:solidFill>
                            <a:schemeClr val="dk1"/>
                          </a:solidFill>
                          <a:latin typeface="+mn-lt"/>
                          <a:ea typeface="+mn-ea"/>
                          <a:cs typeface="+mn-cs"/>
                        </a:rPr>
                        <a:t>Convolutional</a:t>
                      </a:r>
                      <a:r>
                        <a:rPr lang="en-US" sz="1800" kern="1200" baseline="0" dirty="0" smtClean="0">
                          <a:solidFill>
                            <a:schemeClr val="dk1"/>
                          </a:solidFill>
                          <a:latin typeface="+mn-lt"/>
                          <a:ea typeface="+mn-ea"/>
                          <a:cs typeface="+mn-cs"/>
                        </a:rPr>
                        <a:t> Neural Networks Rating Based 		</a:t>
                      </a:r>
                    </a:p>
                    <a:p>
                      <a:pPr algn="ctr"/>
                      <a:endParaRPr lang="en-US" dirty="0"/>
                    </a:p>
                  </a:txBody>
                  <a:tcPr/>
                </a:tc>
                <a:tc>
                  <a:txBody>
                    <a:bodyPr/>
                    <a:lstStyle/>
                    <a:p>
                      <a:pPr algn="ctr"/>
                      <a:r>
                        <a:rPr lang="en-US" sz="1800" kern="1200" baseline="0" dirty="0" smtClean="0">
                          <a:solidFill>
                            <a:schemeClr val="dk1"/>
                          </a:solidFill>
                          <a:latin typeface="+mn-lt"/>
                          <a:ea typeface="+mn-ea"/>
                          <a:cs typeface="+mn-cs"/>
                        </a:rPr>
                        <a:t>93.28% </a:t>
                      </a:r>
                      <a:endParaRPr lang="en-US" dirty="0"/>
                    </a:p>
                  </a:txBody>
                  <a:tcPr/>
                </a:tc>
              </a:tr>
            </a:tbl>
          </a:graphicData>
        </a:graphic>
      </p:graphicFrame>
      <p:sp>
        <p:nvSpPr>
          <p:cNvPr id="6" name="TextBox 5"/>
          <p:cNvSpPr txBox="1"/>
          <p:nvPr/>
        </p:nvSpPr>
        <p:spPr>
          <a:xfrm>
            <a:off x="990600" y="533400"/>
            <a:ext cx="7467600" cy="769441"/>
          </a:xfrm>
          <a:prstGeom prst="rect">
            <a:avLst/>
          </a:prstGeom>
          <a:noFill/>
        </p:spPr>
        <p:txBody>
          <a:bodyPr wrap="square" rtlCol="0">
            <a:spAutoFit/>
          </a:bodyPr>
          <a:lstStyle/>
          <a:p>
            <a:pPr algn="ctr"/>
            <a:r>
              <a:rPr lang="en-US" sz="4400" dirty="0" smtClean="0">
                <a:latin typeface="+mj-lt"/>
              </a:rPr>
              <a:t>RESULTS</a:t>
            </a:r>
            <a:endParaRPr lang="en-US" sz="4400" dirty="0">
              <a:latin typeface="+mj-l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OUTPUT</a:t>
            </a:r>
            <a:endParaRPr lang="en-US" dirty="0"/>
          </a:p>
        </p:txBody>
      </p:sp>
      <p:pic>
        <p:nvPicPr>
          <p:cNvPr id="7" name="Content Placeholder 6" descr="Capture.PNG"/>
          <p:cNvPicPr>
            <a:picLocks noGrp="1" noChangeAspect="1"/>
          </p:cNvPicPr>
          <p:nvPr>
            <p:ph idx="1"/>
          </p:nvPr>
        </p:nvPicPr>
        <p:blipFill>
          <a:blip r:embed="rId2" cstate="print"/>
          <a:stretch>
            <a:fillRect/>
          </a:stretch>
        </p:blipFill>
        <p:spPr>
          <a:xfrm>
            <a:off x="457200" y="1888941"/>
            <a:ext cx="8229600" cy="3948480"/>
          </a:xfr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2.PNG"/>
          <p:cNvPicPr>
            <a:picLocks noGrp="1" noChangeAspect="1"/>
          </p:cNvPicPr>
          <p:nvPr>
            <p:ph idx="1"/>
          </p:nvPr>
        </p:nvPicPr>
        <p:blipFill>
          <a:blip r:embed="rId2" cstate="print"/>
          <a:stretch>
            <a:fillRect/>
          </a:stretch>
        </p:blipFill>
        <p:spPr>
          <a:xfrm>
            <a:off x="457200" y="1447800"/>
            <a:ext cx="8229600" cy="3897779"/>
          </a:xfr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Recommend.PNG"/>
          <p:cNvPicPr>
            <a:picLocks noGrp="1" noChangeAspect="1"/>
          </p:cNvPicPr>
          <p:nvPr>
            <p:ph idx="1"/>
          </p:nvPr>
        </p:nvPicPr>
        <p:blipFill>
          <a:blip r:embed="rId2" cstate="print"/>
          <a:stretch>
            <a:fillRect/>
          </a:stretch>
        </p:blipFill>
        <p:spPr>
          <a:xfrm>
            <a:off x="457200" y="1353381"/>
            <a:ext cx="8229600" cy="3952800"/>
          </a:xfr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lstStyle/>
          <a:p>
            <a:r>
              <a:rPr lang="en-US" dirty="0" smtClean="0"/>
              <a:t>1. CNN Accuracy</a:t>
            </a:r>
          </a:p>
          <a:p>
            <a:endParaRPr lang="en-US" dirty="0" smtClean="0"/>
          </a:p>
          <a:p>
            <a:endParaRPr lang="en-US" dirty="0" smtClean="0"/>
          </a:p>
          <a:p>
            <a:endParaRPr lang="en-US" dirty="0" smtClean="0"/>
          </a:p>
          <a:p>
            <a:endParaRPr lang="en-US" dirty="0" smtClean="0"/>
          </a:p>
          <a:p>
            <a:r>
              <a:rPr lang="en-US" dirty="0" smtClean="0"/>
              <a:t>2. CNN Review Loss </a:t>
            </a:r>
          </a:p>
          <a:p>
            <a:pPr>
              <a:buNone/>
            </a:pPr>
            <a:r>
              <a:rPr lang="en-US" dirty="0" smtClean="0"/>
              <a:t> </a:t>
            </a:r>
          </a:p>
          <a:p>
            <a:endParaRPr lang="en-US" dirty="0" smtClean="0"/>
          </a:p>
          <a:p>
            <a:endParaRPr lang="en-US" dirty="0"/>
          </a:p>
        </p:txBody>
      </p:sp>
      <p:pic>
        <p:nvPicPr>
          <p:cNvPr id="5" name="Picture 4" descr="CNNAccuracy.png"/>
          <p:cNvPicPr>
            <a:picLocks noChangeAspect="1"/>
          </p:cNvPicPr>
          <p:nvPr/>
        </p:nvPicPr>
        <p:blipFill>
          <a:blip r:embed="rId2" cstate="print"/>
          <a:stretch>
            <a:fillRect/>
          </a:stretch>
        </p:blipFill>
        <p:spPr>
          <a:xfrm>
            <a:off x="1524000" y="914400"/>
            <a:ext cx="4191000" cy="2362200"/>
          </a:xfrm>
          <a:prstGeom prst="rect">
            <a:avLst/>
          </a:prstGeom>
        </p:spPr>
      </p:pic>
      <p:pic>
        <p:nvPicPr>
          <p:cNvPr id="7" name="Picture 6" descr="CNNReviewLoss.png"/>
          <p:cNvPicPr>
            <a:picLocks noChangeAspect="1"/>
          </p:cNvPicPr>
          <p:nvPr/>
        </p:nvPicPr>
        <p:blipFill>
          <a:blip r:embed="rId3" cstate="print"/>
          <a:stretch>
            <a:fillRect/>
          </a:stretch>
        </p:blipFill>
        <p:spPr>
          <a:xfrm>
            <a:off x="1752600" y="3810000"/>
            <a:ext cx="4038600" cy="257556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lstStyle/>
          <a:p>
            <a:r>
              <a:rPr lang="en-US" dirty="0" smtClean="0"/>
              <a:t>3. CNN Loss</a:t>
            </a:r>
          </a:p>
          <a:p>
            <a:endParaRPr lang="en-US" dirty="0" smtClean="0"/>
          </a:p>
          <a:p>
            <a:endParaRPr lang="en-US" dirty="0" smtClean="0"/>
          </a:p>
          <a:p>
            <a:endParaRPr lang="en-US" dirty="0" smtClean="0"/>
          </a:p>
          <a:p>
            <a:endParaRPr lang="en-US" dirty="0" smtClean="0"/>
          </a:p>
          <a:p>
            <a:r>
              <a:rPr lang="en-US" dirty="0" smtClean="0"/>
              <a:t>4. CNN Review Accuracy </a:t>
            </a:r>
          </a:p>
          <a:p>
            <a:endParaRPr lang="en-US" dirty="0" smtClean="0"/>
          </a:p>
          <a:p>
            <a:endParaRPr lang="en-US" dirty="0"/>
          </a:p>
        </p:txBody>
      </p:sp>
      <p:pic>
        <p:nvPicPr>
          <p:cNvPr id="4" name="Picture 3" descr="CNNLoss.png"/>
          <p:cNvPicPr>
            <a:picLocks noChangeAspect="1"/>
          </p:cNvPicPr>
          <p:nvPr/>
        </p:nvPicPr>
        <p:blipFill>
          <a:blip r:embed="rId2" cstate="print"/>
          <a:stretch>
            <a:fillRect/>
          </a:stretch>
        </p:blipFill>
        <p:spPr>
          <a:xfrm>
            <a:off x="1828800" y="762000"/>
            <a:ext cx="3688086" cy="2362200"/>
          </a:xfrm>
          <a:prstGeom prst="rect">
            <a:avLst/>
          </a:prstGeom>
        </p:spPr>
      </p:pic>
      <p:pic>
        <p:nvPicPr>
          <p:cNvPr id="6" name="Picture 5" descr="CNNReviewAccuracy.png"/>
          <p:cNvPicPr>
            <a:picLocks noChangeAspect="1"/>
          </p:cNvPicPr>
          <p:nvPr/>
        </p:nvPicPr>
        <p:blipFill>
          <a:blip r:embed="rId3" cstate="print"/>
          <a:stretch>
            <a:fillRect/>
          </a:stretch>
        </p:blipFill>
        <p:spPr>
          <a:xfrm>
            <a:off x="1828800" y="3657600"/>
            <a:ext cx="3733800" cy="2667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lstStyle/>
          <a:p>
            <a:r>
              <a:rPr lang="en-US" dirty="0" smtClean="0"/>
              <a:t>5. CNN Rating Metrics </a:t>
            </a:r>
          </a:p>
          <a:p>
            <a:endParaRPr lang="en-US" dirty="0" smtClean="0"/>
          </a:p>
          <a:p>
            <a:endParaRPr lang="en-US" dirty="0" smtClean="0"/>
          </a:p>
          <a:p>
            <a:endParaRPr lang="en-US" dirty="0" smtClean="0"/>
          </a:p>
          <a:p>
            <a:endParaRPr lang="en-US" dirty="0" smtClean="0"/>
          </a:p>
          <a:p>
            <a:r>
              <a:rPr lang="en-US" dirty="0" smtClean="0"/>
              <a:t>6. CNN Review Metrics</a:t>
            </a:r>
          </a:p>
          <a:p>
            <a:endParaRPr lang="en-US" dirty="0" smtClean="0"/>
          </a:p>
          <a:p>
            <a:endParaRPr lang="en-US" dirty="0"/>
          </a:p>
        </p:txBody>
      </p:sp>
      <p:pic>
        <p:nvPicPr>
          <p:cNvPr id="5" name="Picture 4" descr="CNNMetricsValue.png"/>
          <p:cNvPicPr>
            <a:picLocks noChangeAspect="1"/>
          </p:cNvPicPr>
          <p:nvPr/>
        </p:nvPicPr>
        <p:blipFill>
          <a:blip r:embed="rId2" cstate="print"/>
          <a:stretch>
            <a:fillRect/>
          </a:stretch>
        </p:blipFill>
        <p:spPr>
          <a:xfrm>
            <a:off x="1752600" y="838200"/>
            <a:ext cx="4572000" cy="2423165"/>
          </a:xfrm>
          <a:prstGeom prst="rect">
            <a:avLst/>
          </a:prstGeom>
        </p:spPr>
      </p:pic>
      <p:pic>
        <p:nvPicPr>
          <p:cNvPr id="7" name="Picture 6" descr="CNNReviewMetricsValue.png"/>
          <p:cNvPicPr>
            <a:picLocks noChangeAspect="1"/>
          </p:cNvPicPr>
          <p:nvPr/>
        </p:nvPicPr>
        <p:blipFill>
          <a:blip r:embed="rId3" cstate="print"/>
          <a:stretch>
            <a:fillRect/>
          </a:stretch>
        </p:blipFill>
        <p:spPr>
          <a:xfrm>
            <a:off x="1676400" y="3962400"/>
            <a:ext cx="4876800" cy="2651764"/>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lstStyle/>
          <a:p>
            <a:r>
              <a:rPr lang="en-US" dirty="0" smtClean="0"/>
              <a:t>7.  </a:t>
            </a:r>
            <a:r>
              <a:rPr lang="en-US" dirty="0" err="1" smtClean="0"/>
              <a:t>Randomforest</a:t>
            </a:r>
            <a:r>
              <a:rPr lang="en-US" dirty="0" smtClean="0"/>
              <a:t> Metrics </a:t>
            </a:r>
          </a:p>
          <a:p>
            <a:endParaRPr lang="en-US" dirty="0" smtClean="0"/>
          </a:p>
          <a:p>
            <a:endParaRPr lang="en-US" dirty="0" smtClean="0"/>
          </a:p>
          <a:p>
            <a:endParaRPr lang="en-US" dirty="0" smtClean="0"/>
          </a:p>
          <a:p>
            <a:pPr>
              <a:buNone/>
            </a:pPr>
            <a:endParaRPr lang="en-US" dirty="0" smtClean="0"/>
          </a:p>
          <a:p>
            <a:r>
              <a:rPr lang="en-US" dirty="0" smtClean="0"/>
              <a:t>8. </a:t>
            </a:r>
            <a:r>
              <a:rPr lang="en-US" dirty="0" err="1" smtClean="0"/>
              <a:t>Randomforest</a:t>
            </a:r>
            <a:r>
              <a:rPr lang="en-US" dirty="0" smtClean="0"/>
              <a:t> Review Metrics </a:t>
            </a:r>
          </a:p>
          <a:p>
            <a:pPr>
              <a:buNone/>
            </a:pPr>
            <a:r>
              <a:rPr lang="en-US" dirty="0" smtClean="0"/>
              <a:t> </a:t>
            </a:r>
          </a:p>
          <a:p>
            <a:endParaRPr lang="en-US" dirty="0" smtClean="0"/>
          </a:p>
          <a:p>
            <a:endParaRPr lang="en-US" dirty="0"/>
          </a:p>
        </p:txBody>
      </p:sp>
      <p:pic>
        <p:nvPicPr>
          <p:cNvPr id="5" name="Picture 4" descr="RFMetricsValue.png"/>
          <p:cNvPicPr>
            <a:picLocks noChangeAspect="1"/>
          </p:cNvPicPr>
          <p:nvPr/>
        </p:nvPicPr>
        <p:blipFill>
          <a:blip r:embed="rId2" cstate="print"/>
          <a:stretch>
            <a:fillRect/>
          </a:stretch>
        </p:blipFill>
        <p:spPr>
          <a:xfrm>
            <a:off x="1645914" y="762000"/>
            <a:ext cx="4145286" cy="2438399"/>
          </a:xfrm>
          <a:prstGeom prst="rect">
            <a:avLst/>
          </a:prstGeom>
        </p:spPr>
      </p:pic>
      <p:pic>
        <p:nvPicPr>
          <p:cNvPr id="7" name="Picture 6" descr="RFReviewMetricsValue.png"/>
          <p:cNvPicPr>
            <a:picLocks noChangeAspect="1"/>
          </p:cNvPicPr>
          <p:nvPr/>
        </p:nvPicPr>
        <p:blipFill>
          <a:blip r:embed="rId3" cstate="print"/>
          <a:stretch>
            <a:fillRect/>
          </a:stretch>
        </p:blipFill>
        <p:spPr>
          <a:xfrm>
            <a:off x="1600200" y="3810000"/>
            <a:ext cx="4495800" cy="25908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Conclusion</a:t>
            </a:r>
            <a:endParaRPr lang="en-US" dirty="0"/>
          </a:p>
        </p:txBody>
      </p:sp>
      <p:sp>
        <p:nvSpPr>
          <p:cNvPr id="3" name="Content Placeholder 2"/>
          <p:cNvSpPr>
            <a:spLocks noGrp="1"/>
          </p:cNvSpPr>
          <p:nvPr>
            <p:ph idx="1"/>
          </p:nvPr>
        </p:nvSpPr>
        <p:spPr/>
        <p:txBody>
          <a:bodyPr>
            <a:noAutofit/>
          </a:bodyPr>
          <a:lstStyle/>
          <a:p>
            <a:r>
              <a:rPr lang="en-US" sz="2200" dirty="0" smtClean="0">
                <a:latin typeface="Times New Roman" pitchFamily="18" charset="0"/>
                <a:cs typeface="Times New Roman" pitchFamily="18" charset="0"/>
              </a:rPr>
              <a:t>The proposed work is airline prediction based on customer reviews and rating with Natural Language processing and machine learning algorithm. The reviews and rating are classified as binary classification for airline recommendation 'yes' or 'no'. This project used Random forest as machine learning algorithm and </a:t>
            </a:r>
            <a:r>
              <a:rPr lang="en-US" sz="2200" dirty="0" err="1" smtClean="0">
                <a:latin typeface="Times New Roman" pitchFamily="18" charset="0"/>
                <a:cs typeface="Times New Roman" pitchFamily="18" charset="0"/>
              </a:rPr>
              <a:t>Convolutional</a:t>
            </a:r>
            <a:r>
              <a:rPr lang="en-US" sz="2200" dirty="0" smtClean="0">
                <a:latin typeface="Times New Roman" pitchFamily="18" charset="0"/>
                <a:cs typeface="Times New Roman" pitchFamily="18" charset="0"/>
              </a:rPr>
              <a:t> Neural Network (CNN) algorithm for deep learning classification. The dataset used is real time live data from www.airlinequality.com. The application is build with Flask Python, where user can enter the values of rating to get the best predicted airline. Experimental results shows that Rating based Random forest has achieved highest accuracy.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Future Scope</a:t>
            </a:r>
            <a:endParaRPr lang="en-US" dirty="0"/>
          </a:p>
        </p:txBody>
      </p:sp>
      <p:sp>
        <p:nvSpPr>
          <p:cNvPr id="3" name="Content Placeholder 2"/>
          <p:cNvSpPr>
            <a:spLocks noGrp="1"/>
          </p:cNvSpPr>
          <p:nvPr>
            <p:ph idx="1"/>
          </p:nvPr>
        </p:nvSpPr>
        <p:spPr/>
        <p:txBody>
          <a:bodyPr>
            <a:normAutofit/>
          </a:bodyPr>
          <a:lstStyle/>
          <a:p>
            <a:pPr algn="just"/>
            <a:r>
              <a:rPr lang="en-US" sz="2200" dirty="0" smtClean="0">
                <a:latin typeface="Times New Roman" pitchFamily="18" charset="0"/>
                <a:cs typeface="Times New Roman" pitchFamily="18" charset="0"/>
              </a:rPr>
              <a:t>As future enhancement, we are interested to implement feature selection algorithm namely Genetic algorithm or Particle swarm optimization (PSO) algorithm. Similarly, as the future enhancement, we are interested to implement regularization parameter to tune the parameters for accurate prediction. Techniques like </a:t>
            </a:r>
            <a:r>
              <a:rPr lang="en-US" sz="2200" dirty="0" err="1" smtClean="0">
                <a:latin typeface="Times New Roman" pitchFamily="18" charset="0"/>
                <a:cs typeface="Times New Roman" pitchFamily="18" charset="0"/>
              </a:rPr>
              <a:t>GridSearchCV</a:t>
            </a:r>
            <a:r>
              <a:rPr lang="en-US" sz="2200" dirty="0" smtClean="0">
                <a:latin typeface="Times New Roman" pitchFamily="18" charset="0"/>
                <a:cs typeface="Times New Roman" pitchFamily="18" charset="0"/>
              </a:rPr>
              <a:t> can be implemented in future. </a:t>
            </a:r>
            <a:endParaRPr lang="en-US" sz="2200" dirty="0">
              <a:latin typeface="Times New Roman" pitchFamily="18" charset="0"/>
              <a:cs typeface="Times New Roman"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1315</TotalTime>
  <Words>1053</Words>
  <Application>Microsoft Office PowerPoint</Application>
  <PresentationFormat>On-screen Show (4:3)</PresentationFormat>
  <Paragraphs>98</Paragraphs>
  <Slides>29</Slides>
  <Notes>0</Notes>
  <HiddenSlides>0</HiddenSlides>
  <MMClips>0</MMClip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Office Theme</vt:lpstr>
      <vt:lpstr>Air Line Recommendation System from Web Scraped Real-time Live Data</vt:lpstr>
      <vt:lpstr>Abstract</vt:lpstr>
      <vt:lpstr>What Inspired us?</vt:lpstr>
      <vt:lpstr>System Architecture</vt:lpstr>
      <vt:lpstr>LIBRARIES AND PACKAGES</vt:lpstr>
      <vt:lpstr>LIBRARIES AND PACKAGES</vt:lpstr>
      <vt:lpstr>LIBRARIES AND PACKAGES</vt:lpstr>
      <vt:lpstr>LIBRARIES AND PACKAGES</vt:lpstr>
      <vt:lpstr>Convolutional Neural Networks</vt:lpstr>
      <vt:lpstr>Slide 10</vt:lpstr>
      <vt:lpstr>Slide 11</vt:lpstr>
      <vt:lpstr>Slide 12</vt:lpstr>
      <vt:lpstr>Slide 13</vt:lpstr>
      <vt:lpstr>Slide 14</vt:lpstr>
      <vt:lpstr>RANDOM FOREST</vt:lpstr>
      <vt:lpstr>Slide 16</vt:lpstr>
      <vt:lpstr>Use Case Diagram</vt:lpstr>
      <vt:lpstr>Activity Diagram</vt:lpstr>
      <vt:lpstr>Sequence Diagram</vt:lpstr>
      <vt:lpstr>Slide 20</vt:lpstr>
      <vt:lpstr>OUTPUT</vt:lpstr>
      <vt:lpstr>Slide 22</vt:lpstr>
      <vt:lpstr>Slide 23</vt:lpstr>
      <vt:lpstr>Slide 24</vt:lpstr>
      <vt:lpstr>Slide 25</vt:lpstr>
      <vt:lpstr>Slide 26</vt:lpstr>
      <vt:lpstr>Slide 27</vt:lpstr>
      <vt:lpstr>Conclusion</vt:lpstr>
      <vt:lpstr>Future Scope</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Galaxy Star Classification using Machine Learning</dc:title>
  <dc:creator>Vedavyas Sai Ananthasetty</dc:creator>
  <cp:lastModifiedBy>Vedavyas Sai Ananthasetty</cp:lastModifiedBy>
  <cp:revision>58</cp:revision>
  <dcterms:created xsi:type="dcterms:W3CDTF">2006-08-16T00:00:00Z</dcterms:created>
  <dcterms:modified xsi:type="dcterms:W3CDTF">2022-03-28T21:41:49Z</dcterms:modified>
</cp:coreProperties>
</file>